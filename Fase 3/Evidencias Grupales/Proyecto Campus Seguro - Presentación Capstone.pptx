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Inter SemiBold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Poppins"/>
      <p:regular r:id="rId36"/>
      <p:bold r:id="rId37"/>
      <p:italic r:id="rId38"/>
      <p:boldItalic r:id="rId39"/>
    </p:embeddedFont>
    <p:embeddedFont>
      <p:font typeface="Poppins SemiBold"/>
      <p:regular r:id="rId40"/>
      <p:bold r:id="rId41"/>
      <p:italic r:id="rId42"/>
      <p:boldItalic r:id="rId43"/>
    </p:embeddedFont>
    <p:embeddedFont>
      <p:font typeface="Inter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8" roundtripDataSignature="AMtx7mi15zvxy9qVM3TH9w+ll5/vPcvM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regular.fntdata"/><Relationship Id="rId20" Type="http://schemas.openxmlformats.org/officeDocument/2006/relationships/slide" Target="slides/slide15.xml"/><Relationship Id="rId42" Type="http://schemas.openxmlformats.org/officeDocument/2006/relationships/font" Target="fonts/PoppinsSemiBold-italic.fntdata"/><Relationship Id="rId41" Type="http://schemas.openxmlformats.org/officeDocument/2006/relationships/font" Target="fonts/PoppinsSemiBold-bold.fntdata"/><Relationship Id="rId22" Type="http://schemas.openxmlformats.org/officeDocument/2006/relationships/slide" Target="slides/slide17.xml"/><Relationship Id="rId44" Type="http://schemas.openxmlformats.org/officeDocument/2006/relationships/font" Target="fonts/InterMedium-regular.fntdata"/><Relationship Id="rId21" Type="http://schemas.openxmlformats.org/officeDocument/2006/relationships/slide" Target="slides/slide16.xml"/><Relationship Id="rId43" Type="http://schemas.openxmlformats.org/officeDocument/2006/relationships/font" Target="fonts/PoppinsSemiBold-boldItalic.fntdata"/><Relationship Id="rId24" Type="http://schemas.openxmlformats.org/officeDocument/2006/relationships/font" Target="fonts/InterSemiBold-regular.fntdata"/><Relationship Id="rId46" Type="http://schemas.openxmlformats.org/officeDocument/2006/relationships/font" Target="fonts/InterMedium-italic.fntdata"/><Relationship Id="rId23" Type="http://schemas.openxmlformats.org/officeDocument/2006/relationships/slide" Target="slides/slide18.xml"/><Relationship Id="rId45" Type="http://schemas.openxmlformats.org/officeDocument/2006/relationships/font" Target="fonts/Inter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italic.fntdata"/><Relationship Id="rId48" Type="http://customschemas.google.com/relationships/presentationmetadata" Target="metadata"/><Relationship Id="rId25" Type="http://schemas.openxmlformats.org/officeDocument/2006/relationships/font" Target="fonts/InterSemiBold-bold.fntdata"/><Relationship Id="rId47" Type="http://schemas.openxmlformats.org/officeDocument/2006/relationships/font" Target="fonts/InterMedium-boldItalic.fntdata"/><Relationship Id="rId28" Type="http://schemas.openxmlformats.org/officeDocument/2006/relationships/font" Target="fonts/Roboto-regular.fntdata"/><Relationship Id="rId27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33" Type="http://schemas.openxmlformats.org/officeDocument/2006/relationships/font" Target="fonts/Inter-bold.fntdata"/><Relationship Id="rId10" Type="http://schemas.openxmlformats.org/officeDocument/2006/relationships/slide" Target="slides/slide5.xml"/><Relationship Id="rId32" Type="http://schemas.openxmlformats.org/officeDocument/2006/relationships/font" Target="fonts/Inter-regular.fntdata"/><Relationship Id="rId13" Type="http://schemas.openxmlformats.org/officeDocument/2006/relationships/slide" Target="slides/slide8.xml"/><Relationship Id="rId35" Type="http://schemas.openxmlformats.org/officeDocument/2006/relationships/font" Target="fonts/Inter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-italic.fntdata"/><Relationship Id="rId15" Type="http://schemas.openxmlformats.org/officeDocument/2006/relationships/slide" Target="slides/slide10.xml"/><Relationship Id="rId37" Type="http://schemas.openxmlformats.org/officeDocument/2006/relationships/font" Target="fonts/Poppins-bold.fntdata"/><Relationship Id="rId14" Type="http://schemas.openxmlformats.org/officeDocument/2006/relationships/slide" Target="slides/slide9.xml"/><Relationship Id="rId36" Type="http://schemas.openxmlformats.org/officeDocument/2006/relationships/font" Target="fonts/Poppins-regular.fntdata"/><Relationship Id="rId17" Type="http://schemas.openxmlformats.org/officeDocument/2006/relationships/slide" Target="slides/slide12.xml"/><Relationship Id="rId39" Type="http://schemas.openxmlformats.org/officeDocument/2006/relationships/font" Target="fonts/Poppins-boldItalic.fntdata"/><Relationship Id="rId16" Type="http://schemas.openxmlformats.org/officeDocument/2006/relationships/slide" Target="slides/slide11.xml"/><Relationship Id="rId38" Type="http://schemas.openxmlformats.org/officeDocument/2006/relationships/font" Target="fonts/Poppi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dd214199d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edd214199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dd214199d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edd214199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26f25a4d7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f26f25a4d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1" name="Google Shape;48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1" name="Google Shape;51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6" name="Google Shape;52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12.png"/><Relationship Id="rId13" Type="http://schemas.openxmlformats.org/officeDocument/2006/relationships/image" Target="../media/image5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3.png"/><Relationship Id="rId15" Type="http://schemas.openxmlformats.org/officeDocument/2006/relationships/image" Target="../media/image22.png"/><Relationship Id="rId14" Type="http://schemas.openxmlformats.org/officeDocument/2006/relationships/image" Target="../media/image7.png"/><Relationship Id="rId16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5.png"/><Relationship Id="rId13" Type="http://schemas.openxmlformats.org/officeDocument/2006/relationships/image" Target="../media/image18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5" Type="http://schemas.openxmlformats.org/officeDocument/2006/relationships/image" Target="../media/image35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Relationship Id="rId8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50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33.png"/><Relationship Id="rId7" Type="http://schemas.openxmlformats.org/officeDocument/2006/relationships/image" Target="../media/image49.png"/><Relationship Id="rId8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1.png"/><Relationship Id="rId1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5" Type="http://schemas.openxmlformats.org/officeDocument/2006/relationships/image" Target="../media/image27.png"/><Relationship Id="rId6" Type="http://schemas.openxmlformats.org/officeDocument/2006/relationships/image" Target="../media/image36.png"/><Relationship Id="rId7" Type="http://schemas.openxmlformats.org/officeDocument/2006/relationships/image" Target="../media/image49.png"/><Relationship Id="rId8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52.png"/><Relationship Id="rId11" Type="http://schemas.openxmlformats.org/officeDocument/2006/relationships/image" Target="../media/image89.png"/><Relationship Id="rId22" Type="http://schemas.openxmlformats.org/officeDocument/2006/relationships/image" Target="../media/image60.png"/><Relationship Id="rId10" Type="http://schemas.openxmlformats.org/officeDocument/2006/relationships/image" Target="../media/image12.png"/><Relationship Id="rId21" Type="http://schemas.openxmlformats.org/officeDocument/2006/relationships/image" Target="../media/image56.png"/><Relationship Id="rId13" Type="http://schemas.openxmlformats.org/officeDocument/2006/relationships/image" Target="../media/image48.png"/><Relationship Id="rId1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47.png"/><Relationship Id="rId15" Type="http://schemas.openxmlformats.org/officeDocument/2006/relationships/image" Target="../media/image42.png"/><Relationship Id="rId14" Type="http://schemas.openxmlformats.org/officeDocument/2006/relationships/image" Target="../media/image57.png"/><Relationship Id="rId17" Type="http://schemas.openxmlformats.org/officeDocument/2006/relationships/image" Target="../media/image58.png"/><Relationship Id="rId16" Type="http://schemas.openxmlformats.org/officeDocument/2006/relationships/image" Target="../media/image45.png"/><Relationship Id="rId5" Type="http://schemas.openxmlformats.org/officeDocument/2006/relationships/image" Target="../media/image39.png"/><Relationship Id="rId19" Type="http://schemas.openxmlformats.org/officeDocument/2006/relationships/image" Target="../media/image53.png"/><Relationship Id="rId6" Type="http://schemas.openxmlformats.org/officeDocument/2006/relationships/image" Target="../media/image44.png"/><Relationship Id="rId18" Type="http://schemas.openxmlformats.org/officeDocument/2006/relationships/image" Target="../media/image51.png"/><Relationship Id="rId7" Type="http://schemas.openxmlformats.org/officeDocument/2006/relationships/image" Target="../media/image40.png"/><Relationship Id="rId8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64.png"/><Relationship Id="rId10" Type="http://schemas.openxmlformats.org/officeDocument/2006/relationships/image" Target="../media/image12.png"/><Relationship Id="rId13" Type="http://schemas.openxmlformats.org/officeDocument/2006/relationships/image" Target="../media/image68.png"/><Relationship Id="rId1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63.png"/><Relationship Id="rId5" Type="http://schemas.openxmlformats.org/officeDocument/2006/relationships/image" Target="../media/image67.png"/><Relationship Id="rId6" Type="http://schemas.openxmlformats.org/officeDocument/2006/relationships/image" Target="../media/image62.png"/><Relationship Id="rId7" Type="http://schemas.openxmlformats.org/officeDocument/2006/relationships/image" Target="../media/image80.png"/><Relationship Id="rId8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72.png"/><Relationship Id="rId5" Type="http://schemas.openxmlformats.org/officeDocument/2006/relationships/image" Target="../media/image105.png"/><Relationship Id="rId6" Type="http://schemas.openxmlformats.org/officeDocument/2006/relationships/image" Target="../media/image12.png"/><Relationship Id="rId7" Type="http://schemas.openxmlformats.org/officeDocument/2006/relationships/image" Target="../media/image108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7.png"/><Relationship Id="rId10" Type="http://schemas.openxmlformats.org/officeDocument/2006/relationships/image" Target="../media/image12.png"/><Relationship Id="rId13" Type="http://schemas.openxmlformats.org/officeDocument/2006/relationships/image" Target="../media/image69.png"/><Relationship Id="rId1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3.png"/><Relationship Id="rId14" Type="http://schemas.openxmlformats.org/officeDocument/2006/relationships/image" Target="../media/image107.png"/><Relationship Id="rId5" Type="http://schemas.openxmlformats.org/officeDocument/2006/relationships/image" Target="../media/image61.png"/><Relationship Id="rId6" Type="http://schemas.openxmlformats.org/officeDocument/2006/relationships/image" Target="../media/image66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8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87.png"/><Relationship Id="rId10" Type="http://schemas.openxmlformats.org/officeDocument/2006/relationships/image" Target="../media/image12.png"/><Relationship Id="rId13" Type="http://schemas.openxmlformats.org/officeDocument/2006/relationships/image" Target="../media/image88.png"/><Relationship Id="rId1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6.png"/><Relationship Id="rId15" Type="http://schemas.openxmlformats.org/officeDocument/2006/relationships/image" Target="../media/image85.png"/><Relationship Id="rId14" Type="http://schemas.openxmlformats.org/officeDocument/2006/relationships/image" Target="../media/image81.png"/><Relationship Id="rId17" Type="http://schemas.openxmlformats.org/officeDocument/2006/relationships/image" Target="../media/image91.png"/><Relationship Id="rId16" Type="http://schemas.openxmlformats.org/officeDocument/2006/relationships/image" Target="../media/image83.png"/><Relationship Id="rId5" Type="http://schemas.openxmlformats.org/officeDocument/2006/relationships/image" Target="../media/image101.png"/><Relationship Id="rId6" Type="http://schemas.openxmlformats.org/officeDocument/2006/relationships/image" Target="../media/image74.png"/><Relationship Id="rId18" Type="http://schemas.openxmlformats.org/officeDocument/2006/relationships/image" Target="../media/image84.png"/><Relationship Id="rId7" Type="http://schemas.openxmlformats.org/officeDocument/2006/relationships/image" Target="../media/image71.png"/><Relationship Id="rId8" Type="http://schemas.openxmlformats.org/officeDocument/2006/relationships/image" Target="../media/image82.png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5" Type="http://schemas.openxmlformats.org/officeDocument/2006/relationships/image" Target="../media/image104.png"/><Relationship Id="rId6" Type="http://schemas.openxmlformats.org/officeDocument/2006/relationships/image" Target="../media/image36.png"/><Relationship Id="rId7" Type="http://schemas.openxmlformats.org/officeDocument/2006/relationships/image" Target="../media/image94.png"/><Relationship Id="rId8" Type="http://schemas.openxmlformats.org/officeDocument/2006/relationships/image" Target="../media/image90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95.png"/><Relationship Id="rId10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5" Type="http://schemas.openxmlformats.org/officeDocument/2006/relationships/image" Target="../media/image99.png"/><Relationship Id="rId6" Type="http://schemas.openxmlformats.org/officeDocument/2006/relationships/image" Target="../media/image96.png"/><Relationship Id="rId7" Type="http://schemas.openxmlformats.org/officeDocument/2006/relationships/image" Target="../media/image102.png"/><Relationship Id="rId8" Type="http://schemas.openxmlformats.org/officeDocument/2006/relationships/image" Target="../media/image9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00.png"/><Relationship Id="rId6" Type="http://schemas.openxmlformats.org/officeDocument/2006/relationships/image" Target="../media/image12.png"/><Relationship Id="rId7" Type="http://schemas.openxmlformats.org/officeDocument/2006/relationships/image" Target="../media/image10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5" Type="http://schemas.openxmlformats.org/officeDocument/2006/relationships/image" Target="../media/image106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0" y="4262883"/>
            <a:ext cx="57150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685925" y="571500"/>
            <a:ext cx="97440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01187" y="571500"/>
            <a:ext cx="192881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62000" y="61531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Escuela de Informática y Telecomunicaciones —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1163300" y="615315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2" name="Google Shape;9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2263020" y="2261341"/>
            <a:ext cx="7665900" cy="214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Campus Seguro</a:t>
            </a:r>
            <a:endParaRPr b="1" i="0" sz="405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lang="en-US" sz="40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			||||||||||||||||6t56t5r</a:t>
            </a:r>
            <a:endParaRPr b="1" sz="40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445543" y="2995658"/>
            <a:ext cx="7300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Sistema Centralizado de Gestión y Control de Incidencias de Infraestructura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445550" y="4510533"/>
            <a:ext cx="1805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lang="en-US" sz="14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Estudiantes</a:t>
            </a:r>
            <a:r>
              <a:rPr b="1" i="0" lang="en-US" sz="14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475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oisés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Muñoz</a:t>
            </a:r>
            <a:endParaRPr sz="14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gnacio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Palma</a:t>
            </a:r>
            <a:endParaRPr sz="14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</a:t>
            </a: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ordan 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García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5091825" y="4510525"/>
            <a:ext cx="18057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lang="en-US" sz="14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Profesores</a:t>
            </a:r>
            <a:r>
              <a:rPr b="1" i="0" lang="en-US" sz="14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475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Mabel Herrera</a:t>
            </a:r>
            <a:endParaRPr sz="14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Juan Pablo Mellado</a:t>
            </a:r>
            <a:endParaRPr sz="14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910814" y="4510533"/>
            <a:ext cx="2018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14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Escuela: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475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Informática y Telecomunicaciones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926275"/>
            <a:ext cx="3397150" cy="398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7275" y="1962150"/>
            <a:ext cx="3397300" cy="394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32700" y="1973238"/>
            <a:ext cx="3397150" cy="393591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204912" y="1219200"/>
            <a:ext cx="107363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Integrantes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0" name="Google Shape;11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72662" y="571500"/>
            <a:ext cx="15573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4" name="Google Shape;114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27213" y="219499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/>
        </p:nvSpPr>
        <p:spPr>
          <a:xfrm>
            <a:off x="1000113" y="2949006"/>
            <a:ext cx="292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Moisés Muñoz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1000138" y="3290368"/>
            <a:ext cx="292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MANAGER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000138" y="3690418"/>
            <a:ext cx="29208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Liderazgo de desarrollo frontend, backend, coordinación general y distribución de arquitectura de sistemas.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1000138" y="3576118"/>
            <a:ext cx="2920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62489" y="219499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4635388" y="2949006"/>
            <a:ext cx="292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Ignacio Palma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4635413" y="3290368"/>
            <a:ext cx="292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ENCARGADO DE DOCUMENTACIÓN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4635413" y="3690418"/>
            <a:ext cx="29211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Redacción de especificaciones funcionales, desarrollo de módulos frontend/backend y estructuración técnica.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4635413" y="3576118"/>
            <a:ext cx="29211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" name="Google Shape;125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97913" y="219499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"/>
          <p:cNvSpPr txBox="1"/>
          <p:nvPr/>
        </p:nvSpPr>
        <p:spPr>
          <a:xfrm>
            <a:off x="8270813" y="2949006"/>
            <a:ext cx="292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Jordan García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270838" y="3290368"/>
            <a:ext cx="292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ANALISTA DE VALIDACIÓN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270838" y="3690418"/>
            <a:ext cx="29208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Garantía de calidad de software (QA), validación funcional del flujo del sistema y soporte transversal de desarrollo.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8270838" y="3576118"/>
            <a:ext cx="2920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341525" y="2395019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943464" y="2395019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631276" y="2395019"/>
            <a:ext cx="2000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369425"/>
            <a:ext cx="5143500" cy="529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369425"/>
            <a:ext cx="5143500" cy="529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1138237" y="1000125"/>
            <a:ext cx="1080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Descripción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4" name="Google Shape;14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06075" y="571500"/>
            <a:ext cx="923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095375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"/>
          <p:cNvSpPr txBox="1"/>
          <p:nvPr/>
        </p:nvSpPr>
        <p:spPr>
          <a:xfrm>
            <a:off x="762000" y="6153150"/>
            <a:ext cx="144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10772775" y="6153150"/>
            <a:ext cx="6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8" name="Google Shape;148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"/>
          <p:cNvSpPr txBox="1"/>
          <p:nvPr/>
        </p:nvSpPr>
        <p:spPr>
          <a:xfrm>
            <a:off x="1250463" y="1655604"/>
            <a:ext cx="459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DC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Dolor / Problema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964575" y="2096402"/>
            <a:ext cx="46386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En el campus, los estudiantes y personal no cuentan con un sistema eficiente para reportar, mientra que por otro lado el personal interno del campus no posee un sistema de flujo limpio que ayude a organizar de manera </a:t>
            </a:r>
            <a:r>
              <a:rPr lang="en-US" sz="15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eficaz</a:t>
            </a:r>
            <a:r>
              <a:rPr lang="en-US" sz="15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las labores de mantenimiento.</a:t>
            </a:r>
            <a:endParaRPr sz="155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795488" y="1473979"/>
            <a:ext cx="459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Propuesta de Solución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6500000" y="1688292"/>
            <a:ext cx="4638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Plataforma web que centraliza el reporte, inspección y reparación en un único ticket con flujo de estados definido. </a:t>
            </a:r>
            <a:endParaRPr sz="155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descr="image.png" id="153" name="Google Shape;153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3763" y="169846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 txBox="1"/>
          <p:nvPr/>
        </p:nvSpPr>
        <p:spPr>
          <a:xfrm>
            <a:off x="1055025" y="4365458"/>
            <a:ext cx="4410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Reportes generados de forma manual.</a:t>
            </a:r>
            <a:endParaRPr sz="15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1055025" y="4738133"/>
            <a:ext cx="4410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Registro histórico inexistente o muy débil.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1055025" y="5110808"/>
            <a:ext cx="44100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Baja comunicación entre usuarios, guardias y técnicos de mantención.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7" name="Google Shape;157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8788" y="151684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"/>
          <p:cNvSpPr txBox="1"/>
          <p:nvPr/>
        </p:nvSpPr>
        <p:spPr>
          <a:xfrm>
            <a:off x="6614300" y="3820975"/>
            <a:ext cx="481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Flujo de vida claro del ticket con registro de evidencia multimedia, materiales utilizados, sesiones de trabajo.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6614300" y="4922675"/>
            <a:ext cx="48108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Trazabilidad completa en la asignación de mantenedores.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6614300" y="5666475"/>
            <a:ext cx="481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Panel de BI para que el gestor visualice riesgos, carga de trabajo, historial por ubicación y rendimiento del equipo en tiempo re</a:t>
            </a: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</a:t>
            </a: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1" name="Google Shape;16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6425" y="4384508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6425" y="4757183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6425" y="5129858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6650" y="382040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6650" y="493435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6650" y="567112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"/>
          <p:cNvSpPr txBox="1"/>
          <p:nvPr/>
        </p:nvSpPr>
        <p:spPr>
          <a:xfrm>
            <a:off x="6614300" y="2722363"/>
            <a:ext cx="481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Canal de comunicación entre usuario, gestor, guardia y técnico a través del ciclo de vida del ticket.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8" name="Google Shape;168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6650" y="2776808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768675"/>
            <a:ext cx="10668000" cy="1987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86801"/>
            <a:ext cx="3397150" cy="198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7275" y="3886801"/>
            <a:ext cx="3397300" cy="198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32700" y="3886801"/>
            <a:ext cx="3397150" cy="198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1138237" y="1219200"/>
            <a:ext cx="1080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2" name="Google Shape;182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10825" y="571500"/>
            <a:ext cx="10191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1314450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6" name="Google Shape;186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"/>
          <p:cNvSpPr txBox="1"/>
          <p:nvPr/>
        </p:nvSpPr>
        <p:spPr>
          <a:xfrm>
            <a:off x="1000050" y="1872532"/>
            <a:ext cx="10191900" cy="16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6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Objetivo General:</a:t>
            </a:r>
            <a:r>
              <a:rPr b="0" i="0" lang="en-US" sz="1625" u="none" cap="none" strike="noStrik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5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Desarrollar e implementar una plataforma web centralizada que digitalice y estructure el proceso de gestión de incidencias de infraestructura en el campus, articulando la comunicación entre usuarios, guardias y técnicos de mantención a través de un flujo de tickets con estados, evidencia multimedia, registro de materiales e historial de intervenciones, proporcionando al gestor visibilidad en tiempo real mediante dashboards de análisis para la toma de decisiones operativas.</a:t>
            </a:r>
            <a:r>
              <a:rPr lang="en-US" sz="1550">
                <a:solidFill>
                  <a:schemeClr val="dk1"/>
                </a:solidFill>
              </a:rPr>
              <a:t> </a:t>
            </a:r>
            <a:endParaRPr sz="155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1000125" y="4124920"/>
            <a:ext cx="292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50%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1000125" y="4734520"/>
            <a:ext cx="2920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 Tiempos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1000125" y="4991695"/>
            <a:ext cx="29208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Reducción proyectada en los tiempos de respuesta y solución de incidencias.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4635400" y="4124920"/>
            <a:ext cx="292104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90%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4635400" y="4734520"/>
            <a:ext cx="2921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Trazabilidad Total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4635400" y="4991695"/>
            <a:ext cx="29211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Control exacto sobre el ciclo de vida de los reportes generados.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8270825" y="4124920"/>
            <a:ext cx="292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80%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8270825" y="4734520"/>
            <a:ext cx="2920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Eficiencia Operativa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8270825" y="4991695"/>
            <a:ext cx="29208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Mejora en la efectividad de asignación del equipo de mantenimiento.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819100"/>
            <a:ext cx="5143500" cy="418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819100"/>
            <a:ext cx="5143500" cy="418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5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Alcances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8" name="Google Shape;20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15562" y="571500"/>
            <a:ext cx="12144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5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2" name="Google Shape;212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050" y="203875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"/>
          <p:cNvSpPr txBox="1"/>
          <p:nvPr/>
        </p:nvSpPr>
        <p:spPr>
          <a:xfrm>
            <a:off x="1266750" y="2038757"/>
            <a:ext cx="1838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Plataforma Web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1266825" y="2324007"/>
            <a:ext cx="44007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Interfaz accesible desde navegadores modernos</a:t>
            </a: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computadoras de escritorio</a:t>
            </a: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6" name="Google Shape;21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050" y="33478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 txBox="1"/>
          <p:nvPr/>
        </p:nvSpPr>
        <p:spPr>
          <a:xfrm>
            <a:off x="1266750" y="3347850"/>
            <a:ext cx="423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Gestión de Usuarios Basada en Roles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1266825" y="3662162"/>
            <a:ext cx="44007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Autenticación estructurada con 4 niveles de acceso y permisos: Usuario Final, Guardia de Seguridad, Mantenedor y Administrador.</a:t>
            </a:r>
            <a:endParaRPr b="0" i="0" sz="20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9" name="Google Shape;219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550" y="203875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5"/>
          <p:cNvSpPr txBox="1"/>
          <p:nvPr/>
        </p:nvSpPr>
        <p:spPr>
          <a:xfrm>
            <a:off x="6791250" y="2038750"/>
            <a:ext cx="423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Flujo Completo de Vida del Ticket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6791325" y="2277257"/>
            <a:ext cx="44007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Estados administrables que van desde: Creado → Enviado → Validado → En Mantenimiento → Reparado → Cerrado.</a:t>
            </a:r>
            <a:endParaRPr b="0" i="0" sz="20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2" name="Google Shape;22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550" y="33862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"/>
          <p:cNvSpPr txBox="1"/>
          <p:nvPr/>
        </p:nvSpPr>
        <p:spPr>
          <a:xfrm>
            <a:off x="6791250" y="3386250"/>
            <a:ext cx="39816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-US" sz="15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Registro de Evidencia y Recursos de Materiales Utilizados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6791325" y="4137962"/>
            <a:ext cx="44007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Trazabilidad operativa que permite registrar y asociar materiales con evidencia fotográfica, sesiones de trabajo e historial de intervenciones en cada sesión de mantenimiento.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6575" y="0"/>
            <a:ext cx="1225857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837775"/>
            <a:ext cx="5143500" cy="396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853425"/>
            <a:ext cx="5143500" cy="396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6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6" name="Google Shape;23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15562" y="571500"/>
            <a:ext cx="12144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0" name="Google Shape;240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 txBox="1"/>
          <p:nvPr/>
        </p:nvSpPr>
        <p:spPr>
          <a:xfrm>
            <a:off x="1295400" y="1960292"/>
            <a:ext cx="4590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Marco de Restricción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1028700" y="2395004"/>
            <a:ext cx="46386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Para garantizar la entrega de un Producto Mínimo Viable (MVP) robusto dentro de los plazos establecidos, se definieron ciertas limitaciones técnicas y de infraestructura operativa.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1028700" y="3998416"/>
            <a:ext cx="46386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Estas exclusiones permiten concentrar el esfuerzo del desarrollo en la estabilidad del núcleo del sistema, posponiendo integraciones nativas complejas.</a:t>
            </a:r>
            <a:endParaRPr b="0" i="0" sz="19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4" name="Google Shape;244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" y="2003154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4550" y="199180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6"/>
          <p:cNvSpPr txBox="1"/>
          <p:nvPr/>
        </p:nvSpPr>
        <p:spPr>
          <a:xfrm>
            <a:off x="6791250" y="1991800"/>
            <a:ext cx="4400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 Aplicaciones Móviles Nativas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6791250" y="2282629"/>
            <a:ext cx="44007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incluye apps compiladas para Android o iOS; la accesibilidad móvil se garantiza mediante la versión Web.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8" name="Google Shape;24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4550" y="337198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6"/>
          <p:cNvSpPr txBox="1"/>
          <p:nvPr/>
        </p:nvSpPr>
        <p:spPr>
          <a:xfrm>
            <a:off x="6791250" y="3371988"/>
            <a:ext cx="4400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 Gestión Completa de Inventario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6791250" y="3686609"/>
            <a:ext cx="44007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se administra el inventario de materiales directamente, solo el consumo reportado para las reparaciones asociadas.</a:t>
            </a:r>
            <a:endParaRPr b="0" i="0" sz="20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1" name="Google Shape;251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4550" y="477596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6"/>
          <p:cNvSpPr txBox="1"/>
          <p:nvPr/>
        </p:nvSpPr>
        <p:spPr>
          <a:xfrm>
            <a:off x="6791250" y="4775975"/>
            <a:ext cx="4400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 Geolocalización en Tiempo Real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 txBox="1"/>
          <p:nvPr/>
        </p:nvSpPr>
        <p:spPr>
          <a:xfrm>
            <a:off x="6791250" y="5055090"/>
            <a:ext cx="44007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se incluye el rastreo activo por GPS del personal de mantención en el campus.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376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676402"/>
            <a:ext cx="3397150" cy="4191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7275" y="1676402"/>
            <a:ext cx="3397300" cy="419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32700" y="1676402"/>
            <a:ext cx="3397150" cy="41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1204912" y="1219200"/>
            <a:ext cx="107363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 de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6" name="Google Shape;26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9775" y="571500"/>
            <a:ext cx="18002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7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 txBox="1"/>
          <p:nvPr/>
        </p:nvSpPr>
        <p:spPr>
          <a:xfrm>
            <a:off x="10782300" y="6153150"/>
            <a:ext cx="6477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0" name="Google Shape;27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 txBox="1"/>
          <p:nvPr/>
        </p:nvSpPr>
        <p:spPr>
          <a:xfrm>
            <a:off x="1226200" y="1834037"/>
            <a:ext cx="2806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Control de Versiones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1000175" y="2398550"/>
            <a:ext cx="29208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Uso estricto de Git y GitHub mediante flujo estructurado: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4899575" y="1834037"/>
            <a:ext cx="276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Trabajo Colaborativo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4635450" y="2398550"/>
            <a:ext cx="2921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División organizada y complementaria de responsabilidades: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8477850" y="1834037"/>
            <a:ext cx="282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 Ágil (kanban + Scrum)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8270875" y="2504487"/>
            <a:ext cx="29208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Desarrollo bajo un enfoque iterativo incremental:</a:t>
            </a:r>
            <a:endParaRPr b="0" i="0" sz="20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7" name="Google Shape;277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8550" y="18769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7"/>
          <p:cNvSpPr txBox="1"/>
          <p:nvPr/>
        </p:nvSpPr>
        <p:spPr>
          <a:xfrm>
            <a:off x="1247900" y="3495237"/>
            <a:ext cx="2673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Rama main (producción) y dev (pruebas).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1304925" y="4195762"/>
            <a:ext cx="2616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Commits descriptivos (feat, fix, refactor).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1266875" y="4828862"/>
            <a:ext cx="265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Pull requests con revisiones de código cruzadas.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1" name="Google Shape;281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13825" y="1876900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7"/>
          <p:cNvSpPr txBox="1"/>
          <p:nvPr/>
        </p:nvSpPr>
        <p:spPr>
          <a:xfrm>
            <a:off x="4921275" y="3495237"/>
            <a:ext cx="2635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Separación modular de vistas, lógicas y datos.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4940200" y="4195762"/>
            <a:ext cx="2616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Comunicación asíncrona permanente vía Discord.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4883100" y="4896287"/>
            <a:ext cx="2673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Reuniones de sincronización presenciales.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5" name="Google Shape;285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49250" y="18769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7"/>
          <p:cNvSpPr txBox="1"/>
          <p:nvPr/>
        </p:nvSpPr>
        <p:spPr>
          <a:xfrm>
            <a:off x="8537650" y="3309500"/>
            <a:ext cx="265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Ciclos cortos de entrega de valor funcional.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8537525" y="4010025"/>
            <a:ext cx="265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Pruebas continuas de aceptación en fases.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8537575" y="4643125"/>
            <a:ext cx="265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Priorización en base a un backlog del MVP.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9" name="Google Shape;289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0250" y="35142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00125" y="421481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00175" y="48479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635525" y="3514287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635400" y="421481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635450" y="491533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270950" y="33285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270825" y="40290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270875" y="4662175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g3edd214199d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1810"/>
            <a:ext cx="12192000" cy="5414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75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825" y="3098800"/>
            <a:ext cx="3203625" cy="259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52950" y="3098800"/>
            <a:ext cx="3086100" cy="259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3400" y="3098800"/>
            <a:ext cx="3203700" cy="259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Cronograma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5" name="Google Shape;31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15562" y="571500"/>
            <a:ext cx="12144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8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9" name="Google Shape;319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8"/>
          <p:cNvSpPr txBox="1"/>
          <p:nvPr/>
        </p:nvSpPr>
        <p:spPr>
          <a:xfrm>
            <a:off x="957338" y="2517044"/>
            <a:ext cx="308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Sprint 1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947813" y="2778982"/>
            <a:ext cx="3086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42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SEMANA</a:t>
            </a:r>
            <a:r>
              <a:rPr lang="en-US" sz="14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7 - 9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4557788" y="2517044"/>
            <a:ext cx="308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Sprint 2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 txBox="1"/>
          <p:nvPr/>
        </p:nvSpPr>
        <p:spPr>
          <a:xfrm>
            <a:off x="4557788" y="2783744"/>
            <a:ext cx="3086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42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SEMANA</a:t>
            </a:r>
            <a:r>
              <a:rPr lang="en-US" sz="14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10 - 12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 txBox="1"/>
          <p:nvPr/>
        </p:nvSpPr>
        <p:spPr>
          <a:xfrm>
            <a:off x="8158238" y="2517044"/>
            <a:ext cx="308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Sprint 3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 txBox="1"/>
          <p:nvPr/>
        </p:nvSpPr>
        <p:spPr>
          <a:xfrm>
            <a:off x="8158238" y="2783744"/>
            <a:ext cx="3086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42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SEMANA 13 - 15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1109650" y="3273100"/>
            <a:ext cx="2924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Línea base del sistema: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1109650" y="3647638"/>
            <a:ext cx="29721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Configuración inicial del framework.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Módulo de acceso y seguridad (Auth).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Generación de tickets base y registro inicial.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4710100" y="3273088"/>
            <a:ext cx="2586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Núcleo operativo: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 txBox="1"/>
          <p:nvPr/>
        </p:nvSpPr>
        <p:spPr>
          <a:xfrm>
            <a:off x="4714725" y="3647650"/>
            <a:ext cx="29244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Flujo de asignación de mantenedores.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Lógica de cambio de estados operativos.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Creación de vistas de tickets e incidencias.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 txBox="1"/>
          <p:nvPr/>
        </p:nvSpPr>
        <p:spPr>
          <a:xfrm>
            <a:off x="8310550" y="3273100"/>
            <a:ext cx="308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Trazabilidad y Reportes: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8271000" y="3647650"/>
            <a:ext cx="30861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Dashboards analíticos avanzados por rol.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Registro histórico de cambios del sistema.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Pruebas generales y despliegue del software.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1300238" y="2059844"/>
            <a:ext cx="96012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3" name="Google Shape;333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52738" y="1831244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53188" y="1831244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53638" y="1831244"/>
            <a:ext cx="49530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0" name="Google Shape;3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9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 txBox="1"/>
          <p:nvPr/>
        </p:nvSpPr>
        <p:spPr>
          <a:xfrm>
            <a:off x="1062037" y="0"/>
            <a:ext cx="1076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Arquitectura del Software - Patr</a:t>
            </a:r>
            <a:r>
              <a:rPr lang="en-US" sz="24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ón MVT Django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4" name="Google Shape;3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2112" y="571500"/>
            <a:ext cx="214788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314450"/>
            <a:ext cx="3000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9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8" name="Google Shape;34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9" title="Diagrama mvc.drawi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8000" y="369301"/>
            <a:ext cx="11135990" cy="650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995612"/>
            <a:ext cx="3429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1500" y="2995612"/>
            <a:ext cx="3429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0" y="2995612"/>
            <a:ext cx="342900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0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Estructura del 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2" name="Google Shape;362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86987" y="571500"/>
            <a:ext cx="124301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0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6" name="Google Shape;366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0"/>
          <p:cNvSpPr txBox="1"/>
          <p:nvPr/>
        </p:nvSpPr>
        <p:spPr>
          <a:xfrm>
            <a:off x="1200150" y="3195637"/>
            <a:ext cx="2790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Ticket (Incidencias)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962025" y="347186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4838700" y="3195637"/>
            <a:ext cx="2771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581525" y="347186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 txBox="1"/>
          <p:nvPr/>
        </p:nvSpPr>
        <p:spPr>
          <a:xfrm>
            <a:off x="8458200" y="3195637"/>
            <a:ext cx="2771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Tablas Operativas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8201025" y="347186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3" name="Google Shape;373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2025" y="3214687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0"/>
          <p:cNvSpPr txBox="1"/>
          <p:nvPr/>
        </p:nvSpPr>
        <p:spPr>
          <a:xfrm>
            <a:off x="962025" y="35766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 [INTEGER] </a:t>
            </a:r>
            <a:r>
              <a:rPr b="0" i="0" lang="en-US" sz="9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 txBox="1"/>
          <p:nvPr/>
        </p:nvSpPr>
        <p:spPr>
          <a:xfrm>
            <a:off x="962025" y="37766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titulo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 txBox="1"/>
          <p:nvPr/>
        </p:nvSpPr>
        <p:spPr>
          <a:xfrm>
            <a:off x="962025" y="397668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descripcion [TEXT]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0"/>
          <p:cNvSpPr txBox="1"/>
          <p:nvPr/>
        </p:nvSpPr>
        <p:spPr>
          <a:xfrm>
            <a:off x="962025" y="417671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fecha_creacion [DATE]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0"/>
          <p:cNvSpPr txBox="1"/>
          <p:nvPr/>
        </p:nvSpPr>
        <p:spPr>
          <a:xfrm>
            <a:off x="962025" y="43767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estado_id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 txBox="1"/>
          <p:nvPr/>
        </p:nvSpPr>
        <p:spPr>
          <a:xfrm>
            <a:off x="962025" y="45767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prioridad_id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0" name="Google Shape;380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81525" y="3214687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0"/>
          <p:cNvSpPr txBox="1"/>
          <p:nvPr/>
        </p:nvSpPr>
        <p:spPr>
          <a:xfrm>
            <a:off x="4581525" y="35766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 [INTEGER] </a:t>
            </a:r>
            <a:r>
              <a:rPr b="0" i="0" lang="en-US" sz="9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"/>
          <p:cNvSpPr txBox="1"/>
          <p:nvPr/>
        </p:nvSpPr>
        <p:spPr>
          <a:xfrm>
            <a:off x="4581525" y="37766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auth0_id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"/>
          <p:cNvSpPr txBox="1"/>
          <p:nvPr/>
        </p:nvSpPr>
        <p:spPr>
          <a:xfrm>
            <a:off x="4581525" y="397668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nombre_completo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 txBox="1"/>
          <p:nvPr/>
        </p:nvSpPr>
        <p:spPr>
          <a:xfrm>
            <a:off x="4581525" y="417671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correo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 txBox="1"/>
          <p:nvPr/>
        </p:nvSpPr>
        <p:spPr>
          <a:xfrm>
            <a:off x="4581525" y="43767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rol_id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 txBox="1"/>
          <p:nvPr/>
        </p:nvSpPr>
        <p:spPr>
          <a:xfrm>
            <a:off x="4581525" y="45767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sede_id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7" name="Google Shape;387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01025" y="3214687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0"/>
          <p:cNvSpPr/>
          <p:nvPr/>
        </p:nvSpPr>
        <p:spPr>
          <a:xfrm>
            <a:off x="8201025" y="3576637"/>
            <a:ext cx="3028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8201025" y="3910012"/>
            <a:ext cx="30289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8201025" y="3910012"/>
            <a:ext cx="30289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 txBox="1"/>
          <p:nvPr/>
        </p:nvSpPr>
        <p:spPr>
          <a:xfrm>
            <a:off x="8201025" y="3576637"/>
            <a:ext cx="2181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Registro_Mantencion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Asigna mantenedores a tickets específicos.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0"/>
          <p:cNvSpPr txBox="1"/>
          <p:nvPr/>
        </p:nvSpPr>
        <p:spPr>
          <a:xfrm>
            <a:off x="8201025" y="4033837"/>
            <a:ext cx="2362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Validacion_Guardia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Controla el filtro del guardia antes de proceder.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10" title="Relational_1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g3edd214199d_1_1" title="Relational_1.png"/>
          <p:cNvPicPr preferRelativeResize="0"/>
          <p:nvPr/>
        </p:nvPicPr>
        <p:blipFill rotWithShape="1">
          <a:blip r:embed="rId3">
            <a:alphaModFix/>
          </a:blip>
          <a:srcRect b="45843" l="0" r="54537" t="11389"/>
          <a:stretch/>
        </p:blipFill>
        <p:spPr>
          <a:xfrm>
            <a:off x="1559350" y="-34450"/>
            <a:ext cx="9073300" cy="69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g3f26f25a4d7_1_2" title="Relational_1.png"/>
          <p:cNvPicPr preferRelativeResize="0"/>
          <p:nvPr/>
        </p:nvPicPr>
        <p:blipFill rotWithShape="1">
          <a:blip r:embed="rId3">
            <a:alphaModFix/>
          </a:blip>
          <a:srcRect b="0" l="0" r="52598" t="54396"/>
          <a:stretch/>
        </p:blipFill>
        <p:spPr>
          <a:xfrm>
            <a:off x="1704050" y="0"/>
            <a:ext cx="8783898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8" name="Google Shape;4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0575" y="1706475"/>
            <a:ext cx="5319425" cy="205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200" y="4018288"/>
            <a:ext cx="5319425" cy="18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8975" y="1706475"/>
            <a:ext cx="5236400" cy="205822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1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 txBox="1"/>
          <p:nvPr/>
        </p:nvSpPr>
        <p:spPr>
          <a:xfrm>
            <a:off x="1204912" y="1219200"/>
            <a:ext cx="107363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6" name="Google Shape;41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01287" y="571500"/>
            <a:ext cx="112871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1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 txBox="1"/>
          <p:nvPr/>
        </p:nvSpPr>
        <p:spPr>
          <a:xfrm>
            <a:off x="10763250" y="6153150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20" name="Google Shape;420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08725" y="18183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1"/>
          <p:cNvSpPr txBox="1"/>
          <p:nvPr/>
        </p:nvSpPr>
        <p:spPr>
          <a:xfrm>
            <a:off x="742975" y="2627025"/>
            <a:ext cx="178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Interfaz de Usuario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1"/>
          <p:cNvSpPr txBox="1"/>
          <p:nvPr/>
        </p:nvSpPr>
        <p:spPr>
          <a:xfrm>
            <a:off x="174925" y="3188150"/>
            <a:ext cx="292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u="none" cap="none" strike="noStrike">
                <a:solidFill>
                  <a:srgbClr val="16A3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1"/>
          <p:cNvSpPr txBox="1"/>
          <p:nvPr/>
        </p:nvSpPr>
        <p:spPr>
          <a:xfrm>
            <a:off x="2592838" y="2043300"/>
            <a:ext cx="3262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Estructura moderna en HTML5, CSS3, JavaScript puro e integración nativa de plantillas mediante Django Templates.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1000125" y="3764700"/>
            <a:ext cx="2920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6" name="Google Shape;426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7723" y="4288737"/>
            <a:ext cx="765116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1"/>
          <p:cNvSpPr txBox="1"/>
          <p:nvPr/>
        </p:nvSpPr>
        <p:spPr>
          <a:xfrm>
            <a:off x="174923" y="5096000"/>
            <a:ext cx="28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Lógica y Datos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1"/>
          <p:cNvSpPr txBox="1"/>
          <p:nvPr/>
        </p:nvSpPr>
        <p:spPr>
          <a:xfrm>
            <a:off x="174937" y="5389962"/>
            <a:ext cx="28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u="none" cap="none" strike="noStrike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 &amp; DB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1"/>
          <p:cNvSpPr txBox="1"/>
          <p:nvPr/>
        </p:nvSpPr>
        <p:spPr>
          <a:xfrm>
            <a:off x="2623750" y="4449638"/>
            <a:ext cx="3262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Desarrollado en Python con el framework web Django, </a:t>
            </a:r>
            <a:r>
              <a:rPr lang="en-U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base de datos</a:t>
            </a:r>
            <a:r>
              <a:rPr b="0" i="0" lang="en-U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SQLite.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4635400" y="3764700"/>
            <a:ext cx="29211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1" name="Google Shape;431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72397" y="1920100"/>
            <a:ext cx="765116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1"/>
          <p:cNvSpPr txBox="1"/>
          <p:nvPr/>
        </p:nvSpPr>
        <p:spPr>
          <a:xfrm>
            <a:off x="6190500" y="2814163"/>
            <a:ext cx="166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 de Entregas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1"/>
          <p:cNvSpPr txBox="1"/>
          <p:nvPr/>
        </p:nvSpPr>
        <p:spPr>
          <a:xfrm>
            <a:off x="5661950" y="3451537"/>
            <a:ext cx="28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INFRAESTRUCTURA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1"/>
          <p:cNvSpPr txBox="1"/>
          <p:nvPr/>
        </p:nvSpPr>
        <p:spPr>
          <a:xfrm>
            <a:off x="8035125" y="2043300"/>
            <a:ext cx="3262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Control total del código fuente mediante Git, alojado en repositorios protegidos de GitHub con políticas de integración.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8270825" y="3764700"/>
            <a:ext cx="2920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6" name="Google Shape;436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18328" y="2120125"/>
            <a:ext cx="27325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310177" y="1919775"/>
            <a:ext cx="463846" cy="46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58040" y="4393516"/>
            <a:ext cx="524650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0575" y="4018275"/>
            <a:ext cx="5319425" cy="18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623425" y="4180288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1"/>
          <p:cNvSpPr txBox="1"/>
          <p:nvPr/>
        </p:nvSpPr>
        <p:spPr>
          <a:xfrm>
            <a:off x="6122050" y="4884900"/>
            <a:ext cx="166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7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Validación Externa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1"/>
          <p:cNvSpPr txBox="1"/>
          <p:nvPr/>
        </p:nvSpPr>
        <p:spPr>
          <a:xfrm>
            <a:off x="5496400" y="5488863"/>
            <a:ext cx="292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>
                <a:solidFill>
                  <a:srgbClr val="FFD9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VALIDACIÓN</a:t>
            </a:r>
            <a:endParaRPr b="0" i="0" u="none" cap="none" strike="noStrik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1"/>
          <p:cNvSpPr txBox="1"/>
          <p:nvPr/>
        </p:nvSpPr>
        <p:spPr>
          <a:xfrm>
            <a:off x="8027300" y="4185363"/>
            <a:ext cx="3075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Servicio externo Auth0 con protocolo OAuth2 que valida credenciales, gestiona sesiones y controla permisos por rol de usuario.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1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728200" y="4278188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9" name="Google Shape;4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676400"/>
            <a:ext cx="5143500" cy="421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676400"/>
            <a:ext cx="5143500" cy="42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2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56" name="Google Shape;45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2250" y="571500"/>
            <a:ext cx="10477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2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2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60" name="Google Shape;460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1" name="Google Shape;461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5350" y="196215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2"/>
          <p:cNvSpPr txBox="1"/>
          <p:nvPr/>
        </p:nvSpPr>
        <p:spPr>
          <a:xfrm>
            <a:off x="1290625" y="1990725"/>
            <a:ext cx="440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Registro Operativo de Tickets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 txBox="1"/>
          <p:nvPr/>
        </p:nvSpPr>
        <p:spPr>
          <a:xfrm>
            <a:off x="1266825" y="2279813"/>
            <a:ext cx="4638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Sistema de creación de incidencias estable, listo para operación de usuarios.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2"/>
          <p:cNvSpPr txBox="1"/>
          <p:nvPr/>
        </p:nvSpPr>
        <p:spPr>
          <a:xfrm>
            <a:off x="1214450" y="3041363"/>
            <a:ext cx="393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Estructuración de Roles Funcionando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2"/>
          <p:cNvSpPr txBox="1"/>
          <p:nvPr/>
        </p:nvSpPr>
        <p:spPr>
          <a:xfrm>
            <a:off x="1214450" y="3380200"/>
            <a:ext cx="46386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Autenticación correcta y pantallas personalizadas según cada tipo de perfil de usuario.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2"/>
          <p:cNvSpPr txBox="1"/>
          <p:nvPr/>
        </p:nvSpPr>
        <p:spPr>
          <a:xfrm>
            <a:off x="1214450" y="4395613"/>
            <a:ext cx="3908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Módulo de Asignación y Control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2"/>
          <p:cNvSpPr txBox="1"/>
          <p:nvPr/>
        </p:nvSpPr>
        <p:spPr>
          <a:xfrm>
            <a:off x="1266825" y="4724875"/>
            <a:ext cx="4638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Asignación de mantenedores con auditoría e historial automático de cambios.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2"/>
          <p:cNvSpPr txBox="1"/>
          <p:nvPr/>
        </p:nvSpPr>
        <p:spPr>
          <a:xfrm>
            <a:off x="6817438" y="2043900"/>
            <a:ext cx="359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Trazabilidad y Log de Estados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2"/>
          <p:cNvSpPr txBox="1"/>
          <p:nvPr/>
        </p:nvSpPr>
        <p:spPr>
          <a:xfrm>
            <a:off x="6793638" y="2332992"/>
            <a:ext cx="4400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Flujo de vida del ticket controlado con marcas de tiempo y auditoría de eventos.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2"/>
          <p:cNvSpPr txBox="1"/>
          <p:nvPr/>
        </p:nvSpPr>
        <p:spPr>
          <a:xfrm>
            <a:off x="6805538" y="3098825"/>
            <a:ext cx="359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Dashboard en Tiempo Real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2"/>
          <p:cNvSpPr txBox="1"/>
          <p:nvPr/>
        </p:nvSpPr>
        <p:spPr>
          <a:xfrm>
            <a:off x="6805538" y="3437671"/>
            <a:ext cx="4400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Métricas e indicadores clave para toma de decisiones y control de eficiencia.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2"/>
          <p:cNvSpPr txBox="1"/>
          <p:nvPr/>
        </p:nvSpPr>
        <p:spPr>
          <a:xfrm>
            <a:off x="6738950" y="4317013"/>
            <a:ext cx="359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Modelo de Datos Consolidado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2"/>
          <p:cNvSpPr txBox="1"/>
          <p:nvPr/>
        </p:nvSpPr>
        <p:spPr>
          <a:xfrm>
            <a:off x="6791325" y="4646265"/>
            <a:ext cx="40671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Base relacional optimizada con persistencia íntegra lista para escalar.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74" name="Google Shape;474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3012788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5" name="Google Shape;475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4400438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6" name="Google Shape;476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2163" y="20352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10263" y="30945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43675" y="4299763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3" name="Google Shape;4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250" y="1968114"/>
            <a:ext cx="5143500" cy="1784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216014"/>
            <a:ext cx="51435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3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 txBox="1"/>
          <p:nvPr/>
        </p:nvSpPr>
        <p:spPr>
          <a:xfrm>
            <a:off x="1138237" y="1219200"/>
            <a:ext cx="1080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Obstáculos Presentados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90" name="Google Shape;49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39325" y="571500"/>
            <a:ext cx="15906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1" name="Google Shape;4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3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3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94" name="Google Shape;49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3"/>
          <p:cNvSpPr txBox="1"/>
          <p:nvPr/>
        </p:nvSpPr>
        <p:spPr>
          <a:xfrm>
            <a:off x="1309650" y="2206239"/>
            <a:ext cx="4590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450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Versiones de commit no compatibles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3"/>
          <p:cNvSpPr txBox="1"/>
          <p:nvPr/>
        </p:nvSpPr>
        <p:spPr>
          <a:xfrm>
            <a:off x="1042950" y="2577737"/>
            <a:ext cx="463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i="1" lang="en-US" sz="16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“Se originaron bugs y problemas de versionado en entornos de trabajo al momento de desplegar el servidor.”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3"/>
          <p:cNvSpPr txBox="1"/>
          <p:nvPr/>
        </p:nvSpPr>
        <p:spPr>
          <a:xfrm>
            <a:off x="6819900" y="4454139"/>
            <a:ext cx="4590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450" u="none" cap="none" strike="noStrike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Coordinación del Equipo de Trabajo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3"/>
          <p:cNvSpPr txBox="1"/>
          <p:nvPr/>
        </p:nvSpPr>
        <p:spPr>
          <a:xfrm>
            <a:off x="6553200" y="4825625"/>
            <a:ext cx="4857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"Los horarios laborales y personales dificultaron la coordinación de reuniones presenciales, retrasando algunas etapas críticas."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99" name="Google Shape;499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7451" y="2179615"/>
            <a:ext cx="261925" cy="276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0" name="Google Shape;500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07950" y="4474324"/>
            <a:ext cx="261950" cy="2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1" name="Google Shape;50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87164"/>
            <a:ext cx="51435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3"/>
          <p:cNvSpPr txBox="1"/>
          <p:nvPr/>
        </p:nvSpPr>
        <p:spPr>
          <a:xfrm>
            <a:off x="6819900" y="2225289"/>
            <a:ext cx="4590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450" u="none" cap="none" strike="noStrike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Alcance de Business Intelligence (BI)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3"/>
          <p:cNvSpPr txBox="1"/>
          <p:nvPr/>
        </p:nvSpPr>
        <p:spPr>
          <a:xfrm>
            <a:off x="6553200" y="2596787"/>
            <a:ext cx="463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"Inicialmente no teníamos claro cómo integrar inteligencia de negocios sin convertir el sistema en un simple CRUD convencional."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04" name="Google Shape;50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17700" y="2198665"/>
            <a:ext cx="261925" cy="276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5" name="Google Shape;50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250" y="4216014"/>
            <a:ext cx="51435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3"/>
          <p:cNvSpPr txBox="1"/>
          <p:nvPr/>
        </p:nvSpPr>
        <p:spPr>
          <a:xfrm>
            <a:off x="1309650" y="4454139"/>
            <a:ext cx="4590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450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Reestructuración de funcionalidades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3"/>
          <p:cNvSpPr txBox="1"/>
          <p:nvPr/>
        </p:nvSpPr>
        <p:spPr>
          <a:xfrm>
            <a:off x="1042950" y="4825625"/>
            <a:ext cx="4876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i="1" lang="en-US" sz="16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Cambio o eliminación de opciones disponibles para los diferentes usuarios y roles para ajustarnos a las nuevas necesidades.</a:t>
            </a:r>
            <a:r>
              <a:rPr b="0" i="1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08" name="Google Shape;508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7712" y="4427516"/>
            <a:ext cx="261925" cy="276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3" name="Google Shape;5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4" name="Google Shape;5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4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17" name="Google Shape;5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82225" y="571500"/>
            <a:ext cx="12477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4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4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20" name="Google Shape;52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4"/>
          <p:cNvSpPr txBox="1"/>
          <p:nvPr/>
        </p:nvSpPr>
        <p:spPr>
          <a:xfrm>
            <a:off x="3095625" y="3086100"/>
            <a:ext cx="6000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Demostración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4"/>
          <p:cNvSpPr txBox="1"/>
          <p:nvPr/>
        </p:nvSpPr>
        <p:spPr>
          <a:xfrm>
            <a:off x="3238500" y="3800475"/>
            <a:ext cx="57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23" name="Google Shape;52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53100" y="2171700"/>
            <a:ext cx="6858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8" name="Google Shape;5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9" name="Google Shape;5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15"/>
          <p:cNvSpPr txBox="1"/>
          <p:nvPr/>
        </p:nvSpPr>
        <p:spPr>
          <a:xfrm>
            <a:off x="1685925" y="571500"/>
            <a:ext cx="97440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32" name="Google Shape;5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4200" y="571500"/>
            <a:ext cx="6858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5"/>
          <p:cNvSpPr txBox="1"/>
          <p:nvPr/>
        </p:nvSpPr>
        <p:spPr>
          <a:xfrm>
            <a:off x="762000" y="61531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Escuela de Informática y Telecomunicaciones —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5"/>
          <p:cNvSpPr txBox="1"/>
          <p:nvPr/>
        </p:nvSpPr>
        <p:spPr>
          <a:xfrm>
            <a:off x="10315575" y="6153150"/>
            <a:ext cx="11144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Fin de la Presentación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35" name="Google Shape;5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5"/>
          <p:cNvSpPr txBox="1"/>
          <p:nvPr/>
        </p:nvSpPr>
        <p:spPr>
          <a:xfrm>
            <a:off x="2980610" y="2957512"/>
            <a:ext cx="62307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¡Gracias por 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5"/>
          <p:cNvSpPr txBox="1"/>
          <p:nvPr/>
        </p:nvSpPr>
        <p:spPr>
          <a:xfrm>
            <a:off x="3128962" y="3786187"/>
            <a:ext cx="593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Proyecto "Campus Seguro</a:t>
            </a:r>
            <a:r>
              <a:rPr lang="en-US" sz="15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r>
              <a:rPr b="0" i="0" lang="en-US" sz="15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5"/>
          <p:cNvSpPr txBox="1"/>
          <p:nvPr/>
        </p:nvSpPr>
        <p:spPr>
          <a:xfrm>
            <a:off x="4724400" y="4519612"/>
            <a:ext cx="274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5"/>
          <p:cNvSpPr txBox="1"/>
          <p:nvPr/>
        </p:nvSpPr>
        <p:spPr>
          <a:xfrm>
            <a:off x="4724400" y="4719637"/>
            <a:ext cx="274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