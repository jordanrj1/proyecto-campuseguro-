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Inter SemiBold"/>
      <p:regular r:id="rId24"/>
      <p:bold r:id="rId25"/>
      <p:italic r:id="rId26"/>
      <p:boldItalic r:id="rId27"/>
    </p:embeddedFont>
    <p:embeddedFont>
      <p:font typeface="Roboto"/>
      <p:regular r:id="rId28"/>
      <p:bold r:id="rId29"/>
      <p:italic r:id="rId30"/>
      <p:boldItalic r:id="rId31"/>
    </p:embeddedFont>
    <p:embeddedFont>
      <p:font typeface="Inter"/>
      <p:regular r:id="rId32"/>
      <p:bold r:id="rId33"/>
      <p:italic r:id="rId34"/>
      <p:boldItalic r:id="rId35"/>
    </p:embeddedFont>
    <p:embeddedFont>
      <p:font typeface="Poppins"/>
      <p:regular r:id="rId36"/>
      <p:bold r:id="rId37"/>
      <p:italic r:id="rId38"/>
      <p:boldItalic r:id="rId39"/>
    </p:embeddedFont>
    <p:embeddedFont>
      <p:font typeface="Poppins SemiBold"/>
      <p:regular r:id="rId40"/>
      <p:bold r:id="rId41"/>
      <p:italic r:id="rId42"/>
      <p:boldItalic r:id="rId43"/>
    </p:embeddedFont>
    <p:embeddedFont>
      <p:font typeface="Inter Medium"/>
      <p:regular r:id="rId44"/>
      <p:bold r:id="rId45"/>
      <p:italic r:id="rId46"/>
      <p:boldItalic r:id="rId4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8" roundtripDataSignature="AMtx7mhHifH9FJvQVF0iYpMw+d8Jxlxb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PoppinsSemiBold-regular.fntdata"/><Relationship Id="rId20" Type="http://schemas.openxmlformats.org/officeDocument/2006/relationships/slide" Target="slides/slide15.xml"/><Relationship Id="rId42" Type="http://schemas.openxmlformats.org/officeDocument/2006/relationships/font" Target="fonts/PoppinsSemiBold-italic.fntdata"/><Relationship Id="rId41" Type="http://schemas.openxmlformats.org/officeDocument/2006/relationships/font" Target="fonts/PoppinsSemiBold-bold.fntdata"/><Relationship Id="rId22" Type="http://schemas.openxmlformats.org/officeDocument/2006/relationships/slide" Target="slides/slide17.xml"/><Relationship Id="rId44" Type="http://schemas.openxmlformats.org/officeDocument/2006/relationships/font" Target="fonts/InterMedium-regular.fntdata"/><Relationship Id="rId21" Type="http://schemas.openxmlformats.org/officeDocument/2006/relationships/slide" Target="slides/slide16.xml"/><Relationship Id="rId43" Type="http://schemas.openxmlformats.org/officeDocument/2006/relationships/font" Target="fonts/PoppinsSemiBold-boldItalic.fntdata"/><Relationship Id="rId24" Type="http://schemas.openxmlformats.org/officeDocument/2006/relationships/font" Target="fonts/InterSemiBold-regular.fntdata"/><Relationship Id="rId46" Type="http://schemas.openxmlformats.org/officeDocument/2006/relationships/font" Target="fonts/InterMedium-italic.fntdata"/><Relationship Id="rId23" Type="http://schemas.openxmlformats.org/officeDocument/2006/relationships/slide" Target="slides/slide18.xml"/><Relationship Id="rId45" Type="http://schemas.openxmlformats.org/officeDocument/2006/relationships/font" Target="fonts/InterMedium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InterSemiBold-italic.fntdata"/><Relationship Id="rId48" Type="http://customschemas.google.com/relationships/presentationmetadata" Target="metadata"/><Relationship Id="rId25" Type="http://schemas.openxmlformats.org/officeDocument/2006/relationships/font" Target="fonts/InterSemiBold-bold.fntdata"/><Relationship Id="rId47" Type="http://schemas.openxmlformats.org/officeDocument/2006/relationships/font" Target="fonts/InterMedium-boldItalic.fntdata"/><Relationship Id="rId28" Type="http://schemas.openxmlformats.org/officeDocument/2006/relationships/font" Target="fonts/Roboto-regular.fntdata"/><Relationship Id="rId27" Type="http://schemas.openxmlformats.org/officeDocument/2006/relationships/font" Target="fonts/InterSemiBold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font" Target="fonts/Roboto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font" Target="fonts/Roboto-boldItalic.fntdata"/><Relationship Id="rId30" Type="http://schemas.openxmlformats.org/officeDocument/2006/relationships/font" Target="fonts/Roboto-italic.fntdata"/><Relationship Id="rId11" Type="http://schemas.openxmlformats.org/officeDocument/2006/relationships/slide" Target="slides/slide6.xml"/><Relationship Id="rId33" Type="http://schemas.openxmlformats.org/officeDocument/2006/relationships/font" Target="fonts/Inter-bold.fntdata"/><Relationship Id="rId10" Type="http://schemas.openxmlformats.org/officeDocument/2006/relationships/slide" Target="slides/slide5.xml"/><Relationship Id="rId32" Type="http://schemas.openxmlformats.org/officeDocument/2006/relationships/font" Target="fonts/Inter-regular.fntdata"/><Relationship Id="rId13" Type="http://schemas.openxmlformats.org/officeDocument/2006/relationships/slide" Target="slides/slide8.xml"/><Relationship Id="rId35" Type="http://schemas.openxmlformats.org/officeDocument/2006/relationships/font" Target="fonts/Inter-boldItalic.fntdata"/><Relationship Id="rId12" Type="http://schemas.openxmlformats.org/officeDocument/2006/relationships/slide" Target="slides/slide7.xml"/><Relationship Id="rId34" Type="http://schemas.openxmlformats.org/officeDocument/2006/relationships/font" Target="fonts/Inter-italic.fntdata"/><Relationship Id="rId15" Type="http://schemas.openxmlformats.org/officeDocument/2006/relationships/slide" Target="slides/slide10.xml"/><Relationship Id="rId37" Type="http://schemas.openxmlformats.org/officeDocument/2006/relationships/font" Target="fonts/Poppins-bold.fntdata"/><Relationship Id="rId14" Type="http://schemas.openxmlformats.org/officeDocument/2006/relationships/slide" Target="slides/slide9.xml"/><Relationship Id="rId36" Type="http://schemas.openxmlformats.org/officeDocument/2006/relationships/font" Target="fonts/Poppins-regular.fntdata"/><Relationship Id="rId17" Type="http://schemas.openxmlformats.org/officeDocument/2006/relationships/slide" Target="slides/slide12.xml"/><Relationship Id="rId39" Type="http://schemas.openxmlformats.org/officeDocument/2006/relationships/font" Target="fonts/Poppins-boldItalic.fntdata"/><Relationship Id="rId16" Type="http://schemas.openxmlformats.org/officeDocument/2006/relationships/slide" Target="slides/slide11.xml"/><Relationship Id="rId38" Type="http://schemas.openxmlformats.org/officeDocument/2006/relationships/font" Target="fonts/Poppins-italic.fntdata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0" name="Google Shape;10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1" name="Google Shape;17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7" name="Google Shape;22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6" name="Google Shape;25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edd214199d_0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edd214199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5" name="Google Shape;3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8" name="Google Shape;338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2" name="Google Shape;35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3edd214199d_1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3edd214199d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f26f25a4d7_1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3f26f25a4d7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6" name="Google Shape;40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5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7" name="Google Shape;44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1" name="Google Shape;481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11" name="Google Shape;511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26" name="Google Shape;52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.png"/><Relationship Id="rId6" Type="http://schemas.openxmlformats.org/officeDocument/2006/relationships/image" Target="../media/image9.png"/><Relationship Id="rId7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image" Target="../media/image17.png"/><Relationship Id="rId10" Type="http://schemas.openxmlformats.org/officeDocument/2006/relationships/image" Target="../media/image13.png"/><Relationship Id="rId13" Type="http://schemas.openxmlformats.org/officeDocument/2006/relationships/image" Target="../media/image12.png"/><Relationship Id="rId1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0.png"/><Relationship Id="rId15" Type="http://schemas.openxmlformats.org/officeDocument/2006/relationships/image" Target="../media/image15.png"/><Relationship Id="rId14" Type="http://schemas.openxmlformats.org/officeDocument/2006/relationships/image" Target="../media/image25.png"/><Relationship Id="rId16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image" Target="../media/image14.png"/><Relationship Id="rId7" Type="http://schemas.openxmlformats.org/officeDocument/2006/relationships/image" Target="../media/image2.png"/><Relationship Id="rId8" Type="http://schemas.openxmlformats.org/officeDocument/2006/relationships/image" Target="../media/image18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23.png"/><Relationship Id="rId10" Type="http://schemas.openxmlformats.org/officeDocument/2006/relationships/image" Target="../media/image22.png"/><Relationship Id="rId13" Type="http://schemas.openxmlformats.org/officeDocument/2006/relationships/image" Target="../media/image32.png"/><Relationship Id="rId1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3.png"/><Relationship Id="rId5" Type="http://schemas.openxmlformats.org/officeDocument/2006/relationships/image" Target="../media/image21.png"/><Relationship Id="rId6" Type="http://schemas.openxmlformats.org/officeDocument/2006/relationships/image" Target="../media/image20.png"/><Relationship Id="rId7" Type="http://schemas.openxmlformats.org/officeDocument/2006/relationships/image" Target="../media/image26.png"/><Relationship Id="rId8" Type="http://schemas.openxmlformats.org/officeDocument/2006/relationships/image" Target="../media/image19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3.png"/><Relationship Id="rId10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28.png"/><Relationship Id="rId5" Type="http://schemas.openxmlformats.org/officeDocument/2006/relationships/image" Target="../media/image35.png"/><Relationship Id="rId6" Type="http://schemas.openxmlformats.org/officeDocument/2006/relationships/image" Target="../media/image31.png"/><Relationship Id="rId7" Type="http://schemas.openxmlformats.org/officeDocument/2006/relationships/image" Target="../media/image33.png"/><Relationship Id="rId8" Type="http://schemas.openxmlformats.org/officeDocument/2006/relationships/image" Target="../media/image29.png"/></Relationships>
</file>

<file path=ppt/slides/_rels/slide5.xml.rels><?xml version="1.0" encoding="UTF-8" standalone="yes"?><Relationships xmlns="http://schemas.openxmlformats.org/package/2006/relationships"><Relationship Id="rId10" Type="http://schemas.openxmlformats.org/officeDocument/2006/relationships/image" Target="../media/image6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3.png"/><Relationship Id="rId5" Type="http://schemas.openxmlformats.org/officeDocument/2006/relationships/image" Target="../media/image34.png"/><Relationship Id="rId6" Type="http://schemas.openxmlformats.org/officeDocument/2006/relationships/image" Target="../media/image37.png"/><Relationship Id="rId7" Type="http://schemas.openxmlformats.org/officeDocument/2006/relationships/image" Target="../media/image51.png"/><Relationship Id="rId8" Type="http://schemas.openxmlformats.org/officeDocument/2006/relationships/image" Target="../media/image27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47.png"/><Relationship Id="rId10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3.png"/><Relationship Id="rId5" Type="http://schemas.openxmlformats.org/officeDocument/2006/relationships/image" Target="../media/image36.png"/><Relationship Id="rId6" Type="http://schemas.openxmlformats.org/officeDocument/2006/relationships/image" Target="../media/image45.png"/><Relationship Id="rId7" Type="http://schemas.openxmlformats.org/officeDocument/2006/relationships/image" Target="../media/image51.png"/><Relationship Id="rId8" Type="http://schemas.openxmlformats.org/officeDocument/2006/relationships/image" Target="../media/image44.png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58.png"/><Relationship Id="rId11" Type="http://schemas.openxmlformats.org/officeDocument/2006/relationships/image" Target="../media/image49.png"/><Relationship Id="rId22" Type="http://schemas.openxmlformats.org/officeDocument/2006/relationships/image" Target="../media/image59.png"/><Relationship Id="rId10" Type="http://schemas.openxmlformats.org/officeDocument/2006/relationships/image" Target="../media/image13.png"/><Relationship Id="rId21" Type="http://schemas.openxmlformats.org/officeDocument/2006/relationships/image" Target="../media/image55.png"/><Relationship Id="rId13" Type="http://schemas.openxmlformats.org/officeDocument/2006/relationships/image" Target="../media/image46.png"/><Relationship Id="rId1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42.png"/><Relationship Id="rId15" Type="http://schemas.openxmlformats.org/officeDocument/2006/relationships/image" Target="../media/image50.png"/><Relationship Id="rId14" Type="http://schemas.openxmlformats.org/officeDocument/2006/relationships/image" Target="../media/image60.png"/><Relationship Id="rId17" Type="http://schemas.openxmlformats.org/officeDocument/2006/relationships/image" Target="../media/image54.png"/><Relationship Id="rId16" Type="http://schemas.openxmlformats.org/officeDocument/2006/relationships/image" Target="../media/image53.png"/><Relationship Id="rId5" Type="http://schemas.openxmlformats.org/officeDocument/2006/relationships/image" Target="../media/image41.png"/><Relationship Id="rId19" Type="http://schemas.openxmlformats.org/officeDocument/2006/relationships/image" Target="../media/image52.png"/><Relationship Id="rId6" Type="http://schemas.openxmlformats.org/officeDocument/2006/relationships/image" Target="../media/image38.png"/><Relationship Id="rId18" Type="http://schemas.openxmlformats.org/officeDocument/2006/relationships/image" Target="../media/image66.png"/><Relationship Id="rId7" Type="http://schemas.openxmlformats.org/officeDocument/2006/relationships/image" Target="../media/image39.png"/><Relationship Id="rId8" Type="http://schemas.openxmlformats.org/officeDocument/2006/relationships/image" Target="../media/image4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7.png"/></Relationships>
</file>

<file path=ppt/slides/_rels/slide9.xml.rels><?xml version="1.0" encoding="UTF-8" standalone="yes"?><Relationships xmlns="http://schemas.openxmlformats.org/package/2006/relationships"><Relationship Id="rId11" Type="http://schemas.openxmlformats.org/officeDocument/2006/relationships/image" Target="../media/image84.png"/><Relationship Id="rId10" Type="http://schemas.openxmlformats.org/officeDocument/2006/relationships/image" Target="../media/image13.png"/><Relationship Id="rId13" Type="http://schemas.openxmlformats.org/officeDocument/2006/relationships/image" Target="../media/image68.png"/><Relationship Id="rId1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61.png"/><Relationship Id="rId5" Type="http://schemas.openxmlformats.org/officeDocument/2006/relationships/image" Target="../media/image56.png"/><Relationship Id="rId6" Type="http://schemas.openxmlformats.org/officeDocument/2006/relationships/image" Target="../media/image63.png"/><Relationship Id="rId7" Type="http://schemas.openxmlformats.org/officeDocument/2006/relationships/image" Target="../media/image64.png"/><Relationship Id="rId8" Type="http://schemas.openxmlformats.org/officeDocument/2006/relationships/image" Target="../media/image5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67.png"/><Relationship Id="rId5" Type="http://schemas.openxmlformats.org/officeDocument/2006/relationships/image" Target="../media/image102.png"/><Relationship Id="rId6" Type="http://schemas.openxmlformats.org/officeDocument/2006/relationships/image" Target="../media/image13.png"/><Relationship Id="rId7" Type="http://schemas.openxmlformats.org/officeDocument/2006/relationships/image" Target="../media/image107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85.png"/><Relationship Id="rId10" Type="http://schemas.openxmlformats.org/officeDocument/2006/relationships/image" Target="../media/image13.png"/><Relationship Id="rId13" Type="http://schemas.openxmlformats.org/officeDocument/2006/relationships/image" Target="../media/image74.png"/><Relationship Id="rId12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72.png"/><Relationship Id="rId14" Type="http://schemas.openxmlformats.org/officeDocument/2006/relationships/image" Target="../media/image87.png"/><Relationship Id="rId5" Type="http://schemas.openxmlformats.org/officeDocument/2006/relationships/image" Target="../media/image70.png"/><Relationship Id="rId6" Type="http://schemas.openxmlformats.org/officeDocument/2006/relationships/image" Target="../media/image69.png"/><Relationship Id="rId7" Type="http://schemas.openxmlformats.org/officeDocument/2006/relationships/image" Target="../media/image71.png"/><Relationship Id="rId8" Type="http://schemas.openxmlformats.org/officeDocument/2006/relationships/image" Target="../media/image8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7.png"/></Relationships>
</file>

<file path=ppt/slides/_rels/slide14.xml.rels><?xml version="1.0" encoding="UTF-8" standalone="yes"?><Relationships xmlns="http://schemas.openxmlformats.org/package/2006/relationships"><Relationship Id="rId11" Type="http://schemas.openxmlformats.org/officeDocument/2006/relationships/image" Target="../media/image78.png"/><Relationship Id="rId10" Type="http://schemas.openxmlformats.org/officeDocument/2006/relationships/image" Target="../media/image13.png"/><Relationship Id="rId13" Type="http://schemas.openxmlformats.org/officeDocument/2006/relationships/image" Target="../media/image86.png"/><Relationship Id="rId12" Type="http://schemas.openxmlformats.org/officeDocument/2006/relationships/image" Target="../media/image10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88.png"/><Relationship Id="rId15" Type="http://schemas.openxmlformats.org/officeDocument/2006/relationships/image" Target="../media/image80.png"/><Relationship Id="rId14" Type="http://schemas.openxmlformats.org/officeDocument/2006/relationships/image" Target="../media/image89.png"/><Relationship Id="rId17" Type="http://schemas.openxmlformats.org/officeDocument/2006/relationships/image" Target="../media/image94.png"/><Relationship Id="rId16" Type="http://schemas.openxmlformats.org/officeDocument/2006/relationships/image" Target="../media/image106.png"/><Relationship Id="rId5" Type="http://schemas.openxmlformats.org/officeDocument/2006/relationships/image" Target="../media/image75.png"/><Relationship Id="rId6" Type="http://schemas.openxmlformats.org/officeDocument/2006/relationships/image" Target="../media/image73.png"/><Relationship Id="rId18" Type="http://schemas.openxmlformats.org/officeDocument/2006/relationships/image" Target="../media/image95.png"/><Relationship Id="rId7" Type="http://schemas.openxmlformats.org/officeDocument/2006/relationships/image" Target="../media/image77.png"/><Relationship Id="rId8" Type="http://schemas.openxmlformats.org/officeDocument/2006/relationships/image" Target="../media/image82.png"/></Relationships>
</file>

<file path=ppt/slides/_rels/slide15.xml.rels><?xml version="1.0" encoding="UTF-8" standalone="yes"?><Relationships xmlns="http://schemas.openxmlformats.org/package/2006/relationships"><Relationship Id="rId10" Type="http://schemas.openxmlformats.org/officeDocument/2006/relationships/image" Target="../media/image9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3.png"/><Relationship Id="rId5" Type="http://schemas.openxmlformats.org/officeDocument/2006/relationships/image" Target="../media/image91.png"/><Relationship Id="rId6" Type="http://schemas.openxmlformats.org/officeDocument/2006/relationships/image" Target="../media/image45.png"/><Relationship Id="rId7" Type="http://schemas.openxmlformats.org/officeDocument/2006/relationships/image" Target="../media/image90.png"/><Relationship Id="rId8" Type="http://schemas.openxmlformats.org/officeDocument/2006/relationships/image" Target="../media/image93.png"/></Relationships>
</file>

<file path=ppt/slides/_rels/slide16.xml.rels><?xml version="1.0" encoding="UTF-8" standalone="yes"?><Relationships xmlns="http://schemas.openxmlformats.org/package/2006/relationships"><Relationship Id="rId11" Type="http://schemas.openxmlformats.org/officeDocument/2006/relationships/image" Target="../media/image100.png"/><Relationship Id="rId10" Type="http://schemas.openxmlformats.org/officeDocument/2006/relationships/image" Target="../media/image97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3.png"/><Relationship Id="rId5" Type="http://schemas.openxmlformats.org/officeDocument/2006/relationships/image" Target="../media/image96.png"/><Relationship Id="rId6" Type="http://schemas.openxmlformats.org/officeDocument/2006/relationships/image" Target="../media/image99.png"/><Relationship Id="rId7" Type="http://schemas.openxmlformats.org/officeDocument/2006/relationships/image" Target="../media/image104.png"/><Relationship Id="rId8" Type="http://schemas.openxmlformats.org/officeDocument/2006/relationships/image" Target="../media/image9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5" Type="http://schemas.openxmlformats.org/officeDocument/2006/relationships/image" Target="../media/image103.png"/><Relationship Id="rId6" Type="http://schemas.openxmlformats.org/officeDocument/2006/relationships/image" Target="../media/image13.png"/><Relationship Id="rId7" Type="http://schemas.openxmlformats.org/officeDocument/2006/relationships/image" Target="../media/image10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Relationship Id="rId4" Type="http://schemas.openxmlformats.org/officeDocument/2006/relationships/image" Target="../media/image11.png"/><Relationship Id="rId5" Type="http://schemas.openxmlformats.org/officeDocument/2006/relationships/image" Target="../media/image101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238500" y="4262883"/>
            <a:ext cx="5715000" cy="5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685925" y="571500"/>
            <a:ext cx="97440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0A5F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9" name="Google Shape;89;p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501187" y="571500"/>
            <a:ext cx="1928812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62000" y="6153150"/>
            <a:ext cx="28956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Escuela de Informática y Telecomunicaciones —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1163300" y="6153150"/>
            <a:ext cx="2667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92" name="Google Shape;92;p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"/>
          <p:cNvSpPr txBox="1"/>
          <p:nvPr/>
        </p:nvSpPr>
        <p:spPr>
          <a:xfrm>
            <a:off x="2263020" y="2261341"/>
            <a:ext cx="7665900" cy="6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498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2445543" y="2995658"/>
            <a:ext cx="7300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Sistema Centralizado de Gestión y Control de Incidencias de Infraestructura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2445550" y="4510533"/>
            <a:ext cx="1805700" cy="9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lang="en-US" sz="14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Estudiantes</a:t>
            </a:r>
            <a:r>
              <a:rPr b="1" i="0" lang="en-US" sz="14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47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</a:t>
            </a: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oisés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Muñoz</a:t>
            </a:r>
            <a:endParaRPr sz="1475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gnacio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Palma</a:t>
            </a:r>
            <a:endParaRPr sz="1475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</a:t>
            </a: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ordan 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García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/>
          <p:cNvSpPr txBox="1"/>
          <p:nvPr/>
        </p:nvSpPr>
        <p:spPr>
          <a:xfrm>
            <a:off x="5091825" y="4510525"/>
            <a:ext cx="18057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lang="en-US" sz="1475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Profesores</a:t>
            </a:r>
            <a:r>
              <a:rPr b="1" i="0" lang="en-US" sz="14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47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Mabel Herrera</a:t>
            </a:r>
            <a:endParaRPr sz="1475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475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Juan Pablo Mellado</a:t>
            </a:r>
            <a:endParaRPr sz="1475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7910814" y="4510533"/>
            <a:ext cx="2018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1" i="0" lang="en-US" sz="1475" u="none" cap="none" strike="noStrik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Escuela:</a:t>
            </a: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47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Informática y Telecomunicaciones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2" name="Google Shape;10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4" name="Google Shape;104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926275"/>
            <a:ext cx="3397150" cy="398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5" name="Google Shape;105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97275" y="1962150"/>
            <a:ext cx="3397300" cy="3947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32700" y="1973238"/>
            <a:ext cx="3397150" cy="3935912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1204912" y="1219200"/>
            <a:ext cx="107363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Integrantes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0" name="Google Shape;110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872662" y="571500"/>
            <a:ext cx="155733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1" name="Google Shape;111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32861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4" name="Google Shape;114;p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2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127213" y="2194993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2"/>
          <p:cNvSpPr txBox="1"/>
          <p:nvPr/>
        </p:nvSpPr>
        <p:spPr>
          <a:xfrm>
            <a:off x="1000113" y="2949006"/>
            <a:ext cx="292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Moisés Muñoz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"/>
          <p:cNvSpPr txBox="1"/>
          <p:nvPr/>
        </p:nvSpPr>
        <p:spPr>
          <a:xfrm>
            <a:off x="1000138" y="3290368"/>
            <a:ext cx="292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PROJECT MANAGER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 txBox="1"/>
          <p:nvPr/>
        </p:nvSpPr>
        <p:spPr>
          <a:xfrm>
            <a:off x="1000138" y="3690418"/>
            <a:ext cx="2920800" cy="16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Liderazgo de desarrollo frontend, backend, coordinación general y distribución de arquitectura de sistemas.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"/>
          <p:cNvSpPr/>
          <p:nvPr/>
        </p:nvSpPr>
        <p:spPr>
          <a:xfrm>
            <a:off x="1000138" y="3576118"/>
            <a:ext cx="29208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0" name="Google Shape;120;p2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762489" y="2194993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"/>
          <p:cNvSpPr txBox="1"/>
          <p:nvPr/>
        </p:nvSpPr>
        <p:spPr>
          <a:xfrm>
            <a:off x="4635388" y="2949006"/>
            <a:ext cx="29211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Ignacio Palma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4635413" y="3290368"/>
            <a:ext cx="2921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ENCARGADO DE DOCUMENTACIÓN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4635413" y="3690418"/>
            <a:ext cx="2921100" cy="16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Redacción de especificaciones funcionales, desarrollo de módulos frontend/backend y estructuración técnica.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"/>
          <p:cNvSpPr/>
          <p:nvPr/>
        </p:nvSpPr>
        <p:spPr>
          <a:xfrm>
            <a:off x="4635413" y="3576118"/>
            <a:ext cx="29211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25" name="Google Shape;125;p2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397913" y="2194993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"/>
          <p:cNvSpPr txBox="1"/>
          <p:nvPr/>
        </p:nvSpPr>
        <p:spPr>
          <a:xfrm>
            <a:off x="8270813" y="2949006"/>
            <a:ext cx="29208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Jordan García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8270838" y="3290368"/>
            <a:ext cx="2920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ANALISTA DE VALIDACIÓN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8270838" y="3690418"/>
            <a:ext cx="2920800" cy="16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Garantía de calidad de software (QA), validación funcional del flujo del sistema y soporte transversal de desarrollo.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8270838" y="3576118"/>
            <a:ext cx="29208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30" name="Google Shape;130;p2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2341525" y="2395019"/>
            <a:ext cx="238125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2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5943464" y="2395019"/>
            <a:ext cx="30480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2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9631276" y="2395019"/>
            <a:ext cx="200025" cy="266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369425"/>
            <a:ext cx="5143500" cy="5291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369425"/>
            <a:ext cx="5143500" cy="529130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3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3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1138237" y="1000125"/>
            <a:ext cx="1080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Descripción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44" name="Google Shape;144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506075" y="571500"/>
            <a:ext cx="9239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5" name="Google Shape;145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095375"/>
            <a:ext cx="261937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3"/>
          <p:cNvSpPr txBox="1"/>
          <p:nvPr/>
        </p:nvSpPr>
        <p:spPr>
          <a:xfrm>
            <a:off x="762000" y="6153150"/>
            <a:ext cx="1447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10772775" y="6153150"/>
            <a:ext cx="6573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48" name="Google Shape;148;p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"/>
          <p:cNvSpPr txBox="1"/>
          <p:nvPr/>
        </p:nvSpPr>
        <p:spPr>
          <a:xfrm>
            <a:off x="1250463" y="1655604"/>
            <a:ext cx="459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DC262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El Dolor / Problema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3"/>
          <p:cNvSpPr txBox="1"/>
          <p:nvPr/>
        </p:nvSpPr>
        <p:spPr>
          <a:xfrm>
            <a:off x="964575" y="2096402"/>
            <a:ext cx="4638600" cy="21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En el campus, los estudiantes y personal no cuentan con un sistema eficiente para reportar, mientra que por otro lado el personal interno del campus no posee un sistema de flujo limpio que ayude a organizar de manera </a:t>
            </a:r>
            <a:r>
              <a:rPr lang="en-US" sz="155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eficaz</a:t>
            </a:r>
            <a:r>
              <a:rPr lang="en-US" sz="155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 las labores de mantenimiento.</a:t>
            </a:r>
            <a:endParaRPr sz="1550">
              <a:solidFill>
                <a:srgbClr val="475569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51" name="Google Shape;151;p3"/>
          <p:cNvSpPr txBox="1"/>
          <p:nvPr/>
        </p:nvSpPr>
        <p:spPr>
          <a:xfrm>
            <a:off x="6795488" y="1473979"/>
            <a:ext cx="45906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650" u="none" cap="none" strike="noStrike">
                <a:solidFill>
                  <a:srgbClr val="1E40A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Propuesta de Solución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6500000" y="1688292"/>
            <a:ext cx="4638600" cy="13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 Medium"/>
                <a:ea typeface="Inter Medium"/>
                <a:cs typeface="Inter Medium"/>
                <a:sym typeface="Inter Medium"/>
              </a:rPr>
              <a:t>Plataforma web que centraliza el reporte, inspección y reparación en un único ticket con flujo de estados definido. </a:t>
            </a:r>
            <a:endParaRPr sz="1550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t/>
            </a:r>
            <a:endParaRPr sz="1050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pic>
        <p:nvPicPr>
          <p:cNvPr descr="image.png" id="153" name="Google Shape;153;p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83763" y="1698466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"/>
          <p:cNvSpPr txBox="1"/>
          <p:nvPr/>
        </p:nvSpPr>
        <p:spPr>
          <a:xfrm>
            <a:off x="1055025" y="4365458"/>
            <a:ext cx="4410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Reportes generados de forma manual.</a:t>
            </a:r>
            <a:endParaRPr sz="155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5" name="Google Shape;155;p3"/>
          <p:cNvSpPr txBox="1"/>
          <p:nvPr/>
        </p:nvSpPr>
        <p:spPr>
          <a:xfrm>
            <a:off x="1055025" y="4738133"/>
            <a:ext cx="4410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Registro histórico inexistente o muy débil.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"/>
          <p:cNvSpPr txBox="1"/>
          <p:nvPr/>
        </p:nvSpPr>
        <p:spPr>
          <a:xfrm>
            <a:off x="1055025" y="5110808"/>
            <a:ext cx="4410000" cy="5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Baja comunicación entre usuarios, guardias y técnicos de mantención.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57" name="Google Shape;157;p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28788" y="1516841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3"/>
          <p:cNvSpPr txBox="1"/>
          <p:nvPr/>
        </p:nvSpPr>
        <p:spPr>
          <a:xfrm>
            <a:off x="6614300" y="3820975"/>
            <a:ext cx="48108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Flujo de vida claro del ticket con registro de evidencia multimedia, materiales utilizados, sesiones de trabajo.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3"/>
          <p:cNvSpPr txBox="1"/>
          <p:nvPr/>
        </p:nvSpPr>
        <p:spPr>
          <a:xfrm>
            <a:off x="6614300" y="4922675"/>
            <a:ext cx="4810800" cy="5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Trazabilidad completa en la asignación de mantenedores.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3"/>
          <p:cNvSpPr txBox="1"/>
          <p:nvPr/>
        </p:nvSpPr>
        <p:spPr>
          <a:xfrm>
            <a:off x="6614300" y="5666475"/>
            <a:ext cx="48108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Panel de BI para que el gestor visualice riesgos, carga de trabajo, historial por ubicación y rendimiento del equipo en tiempo re</a:t>
            </a: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al</a:t>
            </a: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1" name="Google Shape;161;p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26425" y="4384508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2" name="Google Shape;162;p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26425" y="4757183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26425" y="5129858"/>
            <a:ext cx="1143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366650" y="3820408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366650" y="4934358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366650" y="5671120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"/>
          <p:cNvSpPr txBox="1"/>
          <p:nvPr/>
        </p:nvSpPr>
        <p:spPr>
          <a:xfrm>
            <a:off x="6614300" y="2722363"/>
            <a:ext cx="48108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Canal de comunicación entre usuario, gestor, guardia y técnico a través del ciclo de vida del ticket.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68" name="Google Shape;168;p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366650" y="2776808"/>
            <a:ext cx="13335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3" name="Google Shape;17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768675"/>
            <a:ext cx="10668000" cy="198713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6" name="Google Shape;176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3886801"/>
            <a:ext cx="3397150" cy="198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397275" y="3886801"/>
            <a:ext cx="3397300" cy="198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32700" y="3886801"/>
            <a:ext cx="3397150" cy="198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4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1138237" y="1219200"/>
            <a:ext cx="108063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Objetivos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2" name="Google Shape;182;p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410825" y="571500"/>
            <a:ext cx="10191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1314450"/>
            <a:ext cx="261937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4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4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86" name="Google Shape;186;p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4"/>
          <p:cNvSpPr txBox="1"/>
          <p:nvPr/>
        </p:nvSpPr>
        <p:spPr>
          <a:xfrm>
            <a:off x="1000050" y="1872532"/>
            <a:ext cx="10191900" cy="168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1" i="0" lang="en-US" sz="1625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Objetivo General:</a:t>
            </a:r>
            <a:r>
              <a:rPr b="0" i="0" lang="en-US" sz="1625" u="none" cap="none" strike="noStrike">
                <a:solidFill>
                  <a:srgbClr val="1E293B"/>
                </a:solidFill>
                <a:latin typeface="Inter Medium"/>
                <a:ea typeface="Inter Medium"/>
                <a:cs typeface="Inter Medium"/>
                <a:sym typeface="Inter Medium"/>
              </a:rPr>
              <a:t> </a:t>
            </a:r>
            <a:r>
              <a:rPr lang="en-US" sz="15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Desarrollar e implementar una plataforma web centralizada que digitalice y estructure el proceso de gestión de incidencias de infraestructura en el campus, articulando la comunicación entre usuarios, guardias y técnicos de mantención a través de un flujo de tickets con estados, evidencia multimedia, registro de materiales e historial de intervenciones, proporcionando al gestor visibilidad en tiempo real mediante dashboards de análisis para la toma de decisiones operativas.</a:t>
            </a:r>
            <a:r>
              <a:rPr lang="en-US" sz="1550">
                <a:solidFill>
                  <a:schemeClr val="dk1"/>
                </a:solidFill>
              </a:rPr>
              <a:t> </a:t>
            </a:r>
            <a:endParaRPr sz="1550">
              <a:solidFill>
                <a:schemeClr val="dk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188" name="Google Shape;188;p4"/>
          <p:cNvSpPr txBox="1"/>
          <p:nvPr/>
        </p:nvSpPr>
        <p:spPr>
          <a:xfrm>
            <a:off x="1000125" y="4124920"/>
            <a:ext cx="29209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50%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4"/>
          <p:cNvSpPr txBox="1"/>
          <p:nvPr/>
        </p:nvSpPr>
        <p:spPr>
          <a:xfrm>
            <a:off x="1000125" y="4734520"/>
            <a:ext cx="29208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4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Gestión de Tiempos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4"/>
          <p:cNvSpPr txBox="1"/>
          <p:nvPr/>
        </p:nvSpPr>
        <p:spPr>
          <a:xfrm>
            <a:off x="1000125" y="4991695"/>
            <a:ext cx="2920800" cy="8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Reducción proyectada en los tiempos de respuesta y solución de incidencias.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4"/>
          <p:cNvSpPr txBox="1"/>
          <p:nvPr/>
        </p:nvSpPr>
        <p:spPr>
          <a:xfrm>
            <a:off x="4635400" y="4124920"/>
            <a:ext cx="2921049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90%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4"/>
          <p:cNvSpPr txBox="1"/>
          <p:nvPr/>
        </p:nvSpPr>
        <p:spPr>
          <a:xfrm>
            <a:off x="4635400" y="4734520"/>
            <a:ext cx="29211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4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Trazabilidad Total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4"/>
          <p:cNvSpPr txBox="1"/>
          <p:nvPr/>
        </p:nvSpPr>
        <p:spPr>
          <a:xfrm>
            <a:off x="4635400" y="4991695"/>
            <a:ext cx="2921100" cy="54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Control exacto sobre el ciclo de vida de los reportes generados.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4"/>
          <p:cNvSpPr txBox="1"/>
          <p:nvPr/>
        </p:nvSpPr>
        <p:spPr>
          <a:xfrm>
            <a:off x="8270825" y="4124920"/>
            <a:ext cx="2920900" cy="5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200"/>
              <a:buFont typeface="Arial"/>
              <a:buNone/>
            </a:pPr>
            <a:r>
              <a:rPr b="1" i="0" lang="en-US" sz="4200" u="none" cap="none" strike="noStrike">
                <a:solidFill>
                  <a:srgbClr val="2563EB"/>
                </a:solidFill>
                <a:latin typeface="Poppins"/>
                <a:ea typeface="Poppins"/>
                <a:cs typeface="Poppins"/>
                <a:sym typeface="Poppins"/>
              </a:rPr>
              <a:t>80%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4"/>
          <p:cNvSpPr txBox="1"/>
          <p:nvPr/>
        </p:nvSpPr>
        <p:spPr>
          <a:xfrm>
            <a:off x="8270825" y="4734520"/>
            <a:ext cx="29208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4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Eficiencia Operativa</a:t>
            </a:r>
            <a:endParaRPr b="0" i="0" sz="1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4"/>
          <p:cNvSpPr txBox="1"/>
          <p:nvPr/>
        </p:nvSpPr>
        <p:spPr>
          <a:xfrm>
            <a:off x="8270825" y="4991695"/>
            <a:ext cx="2920800" cy="86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3989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4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Mejora en la efectividad de asignación del equipo de mantenimiento.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1" name="Google Shape;20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2" name="Google Shape;202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3" name="Google Shape;20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819100"/>
            <a:ext cx="5143500" cy="4181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819100"/>
            <a:ext cx="5143500" cy="418165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5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Alcances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08" name="Google Shape;208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215562" y="571500"/>
            <a:ext cx="121443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9" name="Google Shape;209;p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5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5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2" name="Google Shape;212;p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3" name="Google Shape;213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0050" y="2038757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"/>
          <p:cNvSpPr txBox="1"/>
          <p:nvPr/>
        </p:nvSpPr>
        <p:spPr>
          <a:xfrm>
            <a:off x="1266750" y="2038757"/>
            <a:ext cx="18384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Plataforma Web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1266825" y="2324007"/>
            <a:ext cx="4400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Interfaz accesible desde navegadores modernos</a:t>
            </a: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en computadoras de escritorio</a:t>
            </a: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6" name="Google Shape;216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0050" y="3347862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5"/>
          <p:cNvSpPr txBox="1"/>
          <p:nvPr/>
        </p:nvSpPr>
        <p:spPr>
          <a:xfrm>
            <a:off x="1266750" y="3347850"/>
            <a:ext cx="42321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Gestión de Usuarios Basada en Roles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 txBox="1"/>
          <p:nvPr/>
        </p:nvSpPr>
        <p:spPr>
          <a:xfrm>
            <a:off x="1266825" y="3662162"/>
            <a:ext cx="44007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Autenticación estructurada con 4 niveles de acceso y permisos: Usuario Final, Guardia de Seguridad, Mantenedor y Administrador.</a:t>
            </a:r>
            <a:endParaRPr b="0" i="0" sz="20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19" name="Google Shape;219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550" y="2038757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"/>
          <p:cNvSpPr txBox="1"/>
          <p:nvPr/>
        </p:nvSpPr>
        <p:spPr>
          <a:xfrm>
            <a:off x="6791250" y="2038750"/>
            <a:ext cx="42321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Flujo Completo de Vida del Ticket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5"/>
          <p:cNvSpPr txBox="1"/>
          <p:nvPr/>
        </p:nvSpPr>
        <p:spPr>
          <a:xfrm>
            <a:off x="6791325" y="2277257"/>
            <a:ext cx="44007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Estados administrables que van desde: Creado → Enviado → Validado → En Mantenimiento → Reparado → Cerrado.</a:t>
            </a:r>
            <a:endParaRPr b="0" i="0" sz="20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2" name="Google Shape;222;p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550" y="3386262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5"/>
          <p:cNvSpPr txBox="1"/>
          <p:nvPr/>
        </p:nvSpPr>
        <p:spPr>
          <a:xfrm>
            <a:off x="6791250" y="3386250"/>
            <a:ext cx="3981600" cy="59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lang="en-US" sz="15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Registro de Evidencia y Recursos de Materiales Utilizados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5"/>
          <p:cNvSpPr txBox="1"/>
          <p:nvPr/>
        </p:nvSpPr>
        <p:spPr>
          <a:xfrm>
            <a:off x="6791325" y="4137962"/>
            <a:ext cx="4400700" cy="17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5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Trazabilidad operativa que permite registrar y asociar materiales con evidencia fotográfica, sesiones de trabajo e historial de intervenciones en cada sesión de mantenimiento.</a:t>
            </a:r>
            <a:endParaRPr b="0" i="0" sz="15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9" name="Google Shape;229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54325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0" name="Google Shape;23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837775"/>
            <a:ext cx="5143500" cy="39660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2" name="Google Shape;232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853425"/>
            <a:ext cx="5143500" cy="396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6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6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Limitaciones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36" name="Google Shape;236;p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215562" y="571500"/>
            <a:ext cx="121443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6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0" name="Google Shape;240;p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241" name="Google Shape;241;p6"/>
          <p:cNvSpPr txBox="1"/>
          <p:nvPr/>
        </p:nvSpPr>
        <p:spPr>
          <a:xfrm>
            <a:off x="1295400" y="1960292"/>
            <a:ext cx="45906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85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Marco de Restricción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6"/>
          <p:cNvSpPr txBox="1"/>
          <p:nvPr/>
        </p:nvSpPr>
        <p:spPr>
          <a:xfrm>
            <a:off x="1028700" y="2395004"/>
            <a:ext cx="4638600" cy="13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Para garantizar la entrega de un Producto Mínimo Viable (MVP) robusto dentro de los plazos establecidos, se definieron ciertas limitaciones técnicas y de infraestructura operativa.</a:t>
            </a:r>
            <a:endParaRPr b="0" i="0" sz="1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6"/>
          <p:cNvSpPr txBox="1"/>
          <p:nvPr/>
        </p:nvSpPr>
        <p:spPr>
          <a:xfrm>
            <a:off x="1028700" y="3998416"/>
            <a:ext cx="4638600" cy="1383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0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550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Estas exclusiones permiten concentrar el esfuerzo del desarrollo en la estabilidad del núcleo del sistema, posponiendo integraciones nativas complejas.</a:t>
            </a:r>
            <a:endParaRPr b="0" i="0" sz="19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4" name="Google Shape;244;p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28700" y="2003154"/>
            <a:ext cx="1714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5" name="Google Shape;245;p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24550" y="1991804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p6"/>
          <p:cNvSpPr txBox="1"/>
          <p:nvPr/>
        </p:nvSpPr>
        <p:spPr>
          <a:xfrm>
            <a:off x="6791250" y="1991800"/>
            <a:ext cx="44007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Sin Aplicaciones Móviles Nativas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6"/>
          <p:cNvSpPr txBox="1"/>
          <p:nvPr/>
        </p:nvSpPr>
        <p:spPr>
          <a:xfrm>
            <a:off x="6791250" y="2282629"/>
            <a:ext cx="44007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No incluye apps compiladas para Android o iOS; la accesibilidad móvil se garantiza mediante la versión Web.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48" name="Google Shape;248;p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24550" y="3371984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6"/>
          <p:cNvSpPr txBox="1"/>
          <p:nvPr/>
        </p:nvSpPr>
        <p:spPr>
          <a:xfrm>
            <a:off x="6791250" y="3371988"/>
            <a:ext cx="44007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Sin Gestión Completa de Inventario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6"/>
          <p:cNvSpPr txBox="1"/>
          <p:nvPr/>
        </p:nvSpPr>
        <p:spPr>
          <a:xfrm>
            <a:off x="6791250" y="3686609"/>
            <a:ext cx="4400700" cy="101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No se administra el inventario de materiales directamente, solo el consumo reportado para las reparaciones asociadas.</a:t>
            </a:r>
            <a:endParaRPr b="0" i="0" sz="20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1" name="Google Shape;251;p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24550" y="4775965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6"/>
          <p:cNvSpPr txBox="1"/>
          <p:nvPr/>
        </p:nvSpPr>
        <p:spPr>
          <a:xfrm>
            <a:off x="6791250" y="4775975"/>
            <a:ext cx="44007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5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Sin Geolocalización en Tiempo Real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6"/>
          <p:cNvSpPr txBox="1"/>
          <p:nvPr/>
        </p:nvSpPr>
        <p:spPr>
          <a:xfrm>
            <a:off x="6791250" y="5055090"/>
            <a:ext cx="4400700" cy="63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No se incluye el rastreo activo por GPS del personal de mantención en el campus.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58" name="Google Shape;258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65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9" name="Google Shape;259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0" name="Google Shape;260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676402"/>
            <a:ext cx="3397150" cy="419178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1" name="Google Shape;261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97275" y="1676402"/>
            <a:ext cx="3397300" cy="4191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2" name="Google Shape;262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32700" y="1676402"/>
            <a:ext cx="3397150" cy="41918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7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 txBox="1"/>
          <p:nvPr/>
        </p:nvSpPr>
        <p:spPr>
          <a:xfrm>
            <a:off x="1204912" y="1219200"/>
            <a:ext cx="107363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Metodología de Trabajo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66" name="Google Shape;266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629775" y="571500"/>
            <a:ext cx="180022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67" name="Google Shape;267;p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32861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7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7"/>
          <p:cNvSpPr txBox="1"/>
          <p:nvPr/>
        </p:nvSpPr>
        <p:spPr>
          <a:xfrm>
            <a:off x="10782300" y="6153150"/>
            <a:ext cx="6477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70" name="Google Shape;270;p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271" name="Google Shape;271;p7"/>
          <p:cNvSpPr txBox="1"/>
          <p:nvPr/>
        </p:nvSpPr>
        <p:spPr>
          <a:xfrm>
            <a:off x="1226200" y="1834037"/>
            <a:ext cx="28068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 Control de Versiones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7"/>
          <p:cNvSpPr txBox="1"/>
          <p:nvPr/>
        </p:nvSpPr>
        <p:spPr>
          <a:xfrm>
            <a:off x="1000175" y="2398550"/>
            <a:ext cx="2920800" cy="6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Uso estricto de Git y GitHub mediante flujo estructurado: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7"/>
          <p:cNvSpPr txBox="1"/>
          <p:nvPr/>
        </p:nvSpPr>
        <p:spPr>
          <a:xfrm>
            <a:off x="4899575" y="1834037"/>
            <a:ext cx="2767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Trabajo Colaborativo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7"/>
          <p:cNvSpPr txBox="1"/>
          <p:nvPr/>
        </p:nvSpPr>
        <p:spPr>
          <a:xfrm>
            <a:off x="4635450" y="2398550"/>
            <a:ext cx="2921100" cy="9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División organizada y complementaria de responsabilidades: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7"/>
          <p:cNvSpPr txBox="1"/>
          <p:nvPr/>
        </p:nvSpPr>
        <p:spPr>
          <a:xfrm>
            <a:off x="8477850" y="1834037"/>
            <a:ext cx="28269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Metodología Ágil (kanban + Scrum)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7"/>
          <p:cNvSpPr txBox="1"/>
          <p:nvPr/>
        </p:nvSpPr>
        <p:spPr>
          <a:xfrm>
            <a:off x="8270875" y="2504487"/>
            <a:ext cx="2920800" cy="6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4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575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Desarrollo bajo un enfoque iterativo incremental:</a:t>
            </a:r>
            <a:endParaRPr b="0" i="0" sz="20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77" name="Google Shape;277;p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78550" y="1876900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"/>
          <p:cNvSpPr txBox="1"/>
          <p:nvPr/>
        </p:nvSpPr>
        <p:spPr>
          <a:xfrm>
            <a:off x="1247900" y="3495237"/>
            <a:ext cx="2673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Rama main (producción) y dev (pruebas).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7"/>
          <p:cNvSpPr txBox="1"/>
          <p:nvPr/>
        </p:nvSpPr>
        <p:spPr>
          <a:xfrm>
            <a:off x="1304925" y="4195762"/>
            <a:ext cx="2616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Commits descriptivos (feat, fix, refactor).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7"/>
          <p:cNvSpPr txBox="1"/>
          <p:nvPr/>
        </p:nvSpPr>
        <p:spPr>
          <a:xfrm>
            <a:off x="1266875" y="4828862"/>
            <a:ext cx="2654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Pull requests con revisiones de código cruzadas.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1" name="Google Shape;281;p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613825" y="1876900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"/>
          <p:cNvSpPr txBox="1"/>
          <p:nvPr/>
        </p:nvSpPr>
        <p:spPr>
          <a:xfrm>
            <a:off x="4921275" y="3495237"/>
            <a:ext cx="26352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Separación modular de vistas, lógicas y datos.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7"/>
          <p:cNvSpPr txBox="1"/>
          <p:nvPr/>
        </p:nvSpPr>
        <p:spPr>
          <a:xfrm>
            <a:off x="4940200" y="4195762"/>
            <a:ext cx="2616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Comunicación asíncrona permanente vía Discord.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7"/>
          <p:cNvSpPr txBox="1"/>
          <p:nvPr/>
        </p:nvSpPr>
        <p:spPr>
          <a:xfrm>
            <a:off x="4883100" y="4896287"/>
            <a:ext cx="26733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Reuniones de sincronización presenciales.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5" name="Google Shape;285;p7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8249250" y="1876900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7"/>
          <p:cNvSpPr txBox="1"/>
          <p:nvPr/>
        </p:nvSpPr>
        <p:spPr>
          <a:xfrm>
            <a:off x="8537650" y="3309500"/>
            <a:ext cx="2654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Ciclos cortos de entrega de valor funcional.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7"/>
          <p:cNvSpPr txBox="1"/>
          <p:nvPr/>
        </p:nvSpPr>
        <p:spPr>
          <a:xfrm>
            <a:off x="8537525" y="4010025"/>
            <a:ext cx="2654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Pruebas continuas de aceptación en fases.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7"/>
          <p:cNvSpPr txBox="1"/>
          <p:nvPr/>
        </p:nvSpPr>
        <p:spPr>
          <a:xfrm>
            <a:off x="8537575" y="4643125"/>
            <a:ext cx="26541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Priorización en base a un backlog del MVP.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9" name="Google Shape;289;p7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000250" y="3514287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0" name="Google Shape;290;p7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1000125" y="4214812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1" name="Google Shape;291;p7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1000175" y="4847912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2" name="Google Shape;292;p7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4635525" y="3514287"/>
            <a:ext cx="1714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3" name="Google Shape;293;p7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4635400" y="4214812"/>
            <a:ext cx="1905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4" name="Google Shape;294;p7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4635450" y="4915337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5" name="Google Shape;295;p7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8270950" y="3328550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6" name="Google Shape;296;p7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8270825" y="4029075"/>
            <a:ext cx="15240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7" name="Google Shape;297;p7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8270875" y="4662175"/>
            <a:ext cx="152400" cy="15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g3edd214199d_0_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587012"/>
            <a:ext cx="12192000" cy="5683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7" name="Google Shape;30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8" name="Google Shape;308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75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77825" y="3098800"/>
            <a:ext cx="3203625" cy="2590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0" name="Google Shape;310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552950" y="3098800"/>
            <a:ext cx="3086100" cy="2590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1" name="Google Shape;311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53400" y="3098800"/>
            <a:ext cx="3203700" cy="2590225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8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8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Cronograma de Desarrollo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15" name="Google Shape;315;p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215562" y="571500"/>
            <a:ext cx="121443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16" name="Google Shape;316;p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8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8" name="Google Shape;318;p8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19" name="Google Shape;319;p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8"/>
          <p:cNvSpPr txBox="1"/>
          <p:nvPr/>
        </p:nvSpPr>
        <p:spPr>
          <a:xfrm>
            <a:off x="957338" y="2517044"/>
            <a:ext cx="3086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Sprint 1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8"/>
          <p:cNvSpPr txBox="1"/>
          <p:nvPr/>
        </p:nvSpPr>
        <p:spPr>
          <a:xfrm>
            <a:off x="947813" y="2778982"/>
            <a:ext cx="30861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425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SEMANAS 1-6 (44 HRS)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8"/>
          <p:cNvSpPr txBox="1"/>
          <p:nvPr/>
        </p:nvSpPr>
        <p:spPr>
          <a:xfrm>
            <a:off x="4557788" y="2517044"/>
            <a:ext cx="3086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Sprint 2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8"/>
          <p:cNvSpPr txBox="1"/>
          <p:nvPr/>
        </p:nvSpPr>
        <p:spPr>
          <a:xfrm>
            <a:off x="4557788" y="2783744"/>
            <a:ext cx="30861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425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SEMANAS 7-12 (42 HRS)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8"/>
          <p:cNvSpPr txBox="1"/>
          <p:nvPr/>
        </p:nvSpPr>
        <p:spPr>
          <a:xfrm>
            <a:off x="8158238" y="2517044"/>
            <a:ext cx="3086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Sprint 3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8"/>
          <p:cNvSpPr txBox="1"/>
          <p:nvPr/>
        </p:nvSpPr>
        <p:spPr>
          <a:xfrm>
            <a:off x="8158238" y="2783744"/>
            <a:ext cx="3086100" cy="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425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SEMANAS 13-18 (41 HRS)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8"/>
          <p:cNvSpPr txBox="1"/>
          <p:nvPr/>
        </p:nvSpPr>
        <p:spPr>
          <a:xfrm>
            <a:off x="1109650" y="3273100"/>
            <a:ext cx="2924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7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Línea base del sistema: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8"/>
          <p:cNvSpPr txBox="1"/>
          <p:nvPr/>
        </p:nvSpPr>
        <p:spPr>
          <a:xfrm>
            <a:off x="1109650" y="3647638"/>
            <a:ext cx="29721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Configuración inicial del framework.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Módulo de acceso y seguridad (Auth).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Generación de tickets base y registro inicial.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8"/>
          <p:cNvSpPr txBox="1"/>
          <p:nvPr/>
        </p:nvSpPr>
        <p:spPr>
          <a:xfrm>
            <a:off x="4710100" y="3273088"/>
            <a:ext cx="25866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7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Núcleo operativo: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8"/>
          <p:cNvSpPr txBox="1"/>
          <p:nvPr/>
        </p:nvSpPr>
        <p:spPr>
          <a:xfrm>
            <a:off x="4714725" y="3647650"/>
            <a:ext cx="29244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Flujo de asignación de mantenedores.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Lógica de cambio de estados operativos.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Creación de vistas de tickets e incidencias.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"/>
          <p:cNvSpPr txBox="1"/>
          <p:nvPr/>
        </p:nvSpPr>
        <p:spPr>
          <a:xfrm>
            <a:off x="8310550" y="3273100"/>
            <a:ext cx="30861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7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Trazabilidad y Reportes:</a:t>
            </a:r>
            <a:endParaRPr b="0" i="0" sz="2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8"/>
          <p:cNvSpPr txBox="1"/>
          <p:nvPr/>
        </p:nvSpPr>
        <p:spPr>
          <a:xfrm>
            <a:off x="8271000" y="3647650"/>
            <a:ext cx="3086100" cy="17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Dashboards analíticos avanzados por rol.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Registro histórico de cambios del sistema.</a:t>
            </a:r>
            <a:br>
              <a:rPr b="0" i="0" lang="en-US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72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• Pruebas generales y despliegue del software.</a:t>
            </a:r>
            <a:endParaRPr b="0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8"/>
          <p:cNvSpPr/>
          <p:nvPr/>
        </p:nvSpPr>
        <p:spPr>
          <a:xfrm>
            <a:off x="1300238" y="2059844"/>
            <a:ext cx="96012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33" name="Google Shape;333;p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2252738" y="1831244"/>
            <a:ext cx="495300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4" name="Google Shape;334;p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5853188" y="1831244"/>
            <a:ext cx="495300" cy="495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35" name="Google Shape;335;p8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9453638" y="1831244"/>
            <a:ext cx="495300" cy="4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0" name="Google Shape;340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9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9"/>
          <p:cNvSpPr txBox="1"/>
          <p:nvPr/>
        </p:nvSpPr>
        <p:spPr>
          <a:xfrm>
            <a:off x="1176337" y="1219200"/>
            <a:ext cx="1076634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Arquitectura del Software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44" name="Google Shape;344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282112" y="571500"/>
            <a:ext cx="2147887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5" name="Google Shape;345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314450"/>
            <a:ext cx="300037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9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9"/>
          <p:cNvSpPr txBox="1"/>
          <p:nvPr/>
        </p:nvSpPr>
        <p:spPr>
          <a:xfrm>
            <a:off x="10772775" y="6153150"/>
            <a:ext cx="6572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48" name="Google Shape;348;p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9" title="Diagrama mvc.drawio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262992" y="1676400"/>
            <a:ext cx="7666019" cy="4476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4" name="Google Shape;35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5" name="Google Shape;35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6" name="Google Shape;35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2995612"/>
            <a:ext cx="3429000" cy="1924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7" name="Google Shape;357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81500" y="2995612"/>
            <a:ext cx="3429000" cy="19240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8" name="Google Shape;358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01000" y="2995612"/>
            <a:ext cx="3429000" cy="192405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10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0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Estructura del Modelo de Datos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62" name="Google Shape;362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186987" y="571500"/>
            <a:ext cx="1243012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10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0"/>
          <p:cNvSpPr txBox="1"/>
          <p:nvPr/>
        </p:nvSpPr>
        <p:spPr>
          <a:xfrm>
            <a:off x="10734675" y="6153150"/>
            <a:ext cx="6953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66" name="Google Shape;366;p1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0"/>
          <p:cNvSpPr txBox="1"/>
          <p:nvPr/>
        </p:nvSpPr>
        <p:spPr>
          <a:xfrm>
            <a:off x="1200150" y="3195637"/>
            <a:ext cx="27908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Ticket (Incidencias)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962025" y="3471862"/>
            <a:ext cx="3028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0"/>
          <p:cNvSpPr txBox="1"/>
          <p:nvPr/>
        </p:nvSpPr>
        <p:spPr>
          <a:xfrm>
            <a:off x="4838700" y="3195637"/>
            <a:ext cx="27717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Usuario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0"/>
          <p:cNvSpPr/>
          <p:nvPr/>
        </p:nvSpPr>
        <p:spPr>
          <a:xfrm>
            <a:off x="4581525" y="3471862"/>
            <a:ext cx="3028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 txBox="1"/>
          <p:nvPr/>
        </p:nvSpPr>
        <p:spPr>
          <a:xfrm>
            <a:off x="8458200" y="3195637"/>
            <a:ext cx="2771775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Tablas Operativas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0"/>
          <p:cNvSpPr/>
          <p:nvPr/>
        </p:nvSpPr>
        <p:spPr>
          <a:xfrm>
            <a:off x="8201025" y="3471862"/>
            <a:ext cx="30289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73" name="Google Shape;373;p1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62025" y="3214687"/>
            <a:ext cx="1619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0"/>
          <p:cNvSpPr txBox="1"/>
          <p:nvPr/>
        </p:nvSpPr>
        <p:spPr>
          <a:xfrm>
            <a:off x="962025" y="357663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id [INTEGER] </a:t>
            </a:r>
            <a:r>
              <a:rPr b="0" i="0" lang="en-US" sz="9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0"/>
          <p:cNvSpPr txBox="1"/>
          <p:nvPr/>
        </p:nvSpPr>
        <p:spPr>
          <a:xfrm>
            <a:off x="962025" y="377666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titulo [VARCHAR]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0"/>
          <p:cNvSpPr txBox="1"/>
          <p:nvPr/>
        </p:nvSpPr>
        <p:spPr>
          <a:xfrm>
            <a:off x="962025" y="397668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descripcion [TEXT]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0"/>
          <p:cNvSpPr txBox="1"/>
          <p:nvPr/>
        </p:nvSpPr>
        <p:spPr>
          <a:xfrm>
            <a:off x="962025" y="417671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fecha_creacion [DATE]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0"/>
          <p:cNvSpPr txBox="1"/>
          <p:nvPr/>
        </p:nvSpPr>
        <p:spPr>
          <a:xfrm>
            <a:off x="962025" y="437673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estado_id [INTEGER]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0"/>
          <p:cNvSpPr txBox="1"/>
          <p:nvPr/>
        </p:nvSpPr>
        <p:spPr>
          <a:xfrm>
            <a:off x="962025" y="457676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prioridad_id [INTEGER]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80" name="Google Shape;380;p1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581525" y="3214687"/>
            <a:ext cx="1809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10"/>
          <p:cNvSpPr txBox="1"/>
          <p:nvPr/>
        </p:nvSpPr>
        <p:spPr>
          <a:xfrm>
            <a:off x="4581525" y="357663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id [INTEGER] </a:t>
            </a:r>
            <a:r>
              <a:rPr b="0" i="0" lang="en-US" sz="9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0"/>
          <p:cNvSpPr txBox="1"/>
          <p:nvPr/>
        </p:nvSpPr>
        <p:spPr>
          <a:xfrm>
            <a:off x="4581525" y="377666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auth0_id [VARCHAR]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0"/>
          <p:cNvSpPr txBox="1"/>
          <p:nvPr/>
        </p:nvSpPr>
        <p:spPr>
          <a:xfrm>
            <a:off x="4581525" y="397668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nombre_completo [VARCHAR]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0"/>
          <p:cNvSpPr txBox="1"/>
          <p:nvPr/>
        </p:nvSpPr>
        <p:spPr>
          <a:xfrm>
            <a:off x="4581525" y="417671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correo [VARCHAR]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0"/>
          <p:cNvSpPr txBox="1"/>
          <p:nvPr/>
        </p:nvSpPr>
        <p:spPr>
          <a:xfrm>
            <a:off x="4581525" y="4376737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rol_id [INTEGER]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0"/>
          <p:cNvSpPr txBox="1"/>
          <p:nvPr/>
        </p:nvSpPr>
        <p:spPr>
          <a:xfrm>
            <a:off x="4581525" y="4576762"/>
            <a:ext cx="3028950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sede_id [INTEGER]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387" name="Google Shape;387;p10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8201025" y="3214687"/>
            <a:ext cx="1809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10"/>
          <p:cNvSpPr/>
          <p:nvPr/>
        </p:nvSpPr>
        <p:spPr>
          <a:xfrm>
            <a:off x="8201025" y="3576637"/>
            <a:ext cx="3028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0"/>
          <p:cNvSpPr/>
          <p:nvPr/>
        </p:nvSpPr>
        <p:spPr>
          <a:xfrm>
            <a:off x="8201025" y="3910012"/>
            <a:ext cx="302895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8201025" y="3910012"/>
            <a:ext cx="3028950" cy="9525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 txBox="1"/>
          <p:nvPr/>
        </p:nvSpPr>
        <p:spPr>
          <a:xfrm>
            <a:off x="8201025" y="3576637"/>
            <a:ext cx="218122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Registro_Mantencion</a:t>
            </a: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Asigna mantenedores a tickets específicos.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0"/>
          <p:cNvSpPr txBox="1"/>
          <p:nvPr/>
        </p:nvSpPr>
        <p:spPr>
          <a:xfrm>
            <a:off x="8201025" y="4033837"/>
            <a:ext cx="2362200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Validacion_Guardia</a:t>
            </a:r>
            <a:r>
              <a:rPr b="0" i="0" lang="en-US" sz="900" u="none" cap="none" strike="noStrike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9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Controla el filtro del guardia antes de proceder.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3" name="Google Shape;393;p10" title="Relational_1.png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0" y="0"/>
            <a:ext cx="12192000" cy="6858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Google Shape;398;g3edd214199d_1_1" title="Relational_1.png"/>
          <p:cNvPicPr preferRelativeResize="0"/>
          <p:nvPr/>
        </p:nvPicPr>
        <p:blipFill rotWithShape="1">
          <a:blip r:embed="rId3">
            <a:alphaModFix/>
          </a:blip>
          <a:srcRect b="45843" l="0" r="54537" t="11389"/>
          <a:stretch/>
        </p:blipFill>
        <p:spPr>
          <a:xfrm>
            <a:off x="1559350" y="-34450"/>
            <a:ext cx="9073300" cy="692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3" name="Google Shape;403;g3f26f25a4d7_1_2" title="Relational_1.png"/>
          <p:cNvPicPr preferRelativeResize="0"/>
          <p:nvPr/>
        </p:nvPicPr>
        <p:blipFill rotWithShape="1">
          <a:blip r:embed="rId3">
            <a:alphaModFix/>
          </a:blip>
          <a:srcRect b="0" l="0" r="52598" t="54396"/>
          <a:stretch/>
        </p:blipFill>
        <p:spPr>
          <a:xfrm>
            <a:off x="1704050" y="0"/>
            <a:ext cx="8783898" cy="6858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08" name="Google Shape;408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9" name="Google Shape;40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0" name="Google Shape;410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10575" y="1706475"/>
            <a:ext cx="5319425" cy="20582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1" name="Google Shape;411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110575" y="3958763"/>
            <a:ext cx="5319425" cy="1890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2" name="Google Shape;412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8975" y="1706475"/>
            <a:ext cx="5236400" cy="2058225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1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4" name="Google Shape;414;p11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1"/>
          <p:cNvSpPr txBox="1"/>
          <p:nvPr/>
        </p:nvSpPr>
        <p:spPr>
          <a:xfrm>
            <a:off x="1204912" y="1219200"/>
            <a:ext cx="10736341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Tecnologías Utilizadas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16" name="Google Shape;416;p1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301287" y="571500"/>
            <a:ext cx="1128712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7" name="Google Shape;417;p1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1314450"/>
            <a:ext cx="32861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11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1"/>
          <p:cNvSpPr txBox="1"/>
          <p:nvPr/>
        </p:nvSpPr>
        <p:spPr>
          <a:xfrm>
            <a:off x="10763250" y="6153150"/>
            <a:ext cx="66675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20" name="Google Shape;420;p1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1" name="Google Shape;421;p11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208725" y="1818325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11"/>
          <p:cNvSpPr txBox="1"/>
          <p:nvPr/>
        </p:nvSpPr>
        <p:spPr>
          <a:xfrm>
            <a:off x="742975" y="2627025"/>
            <a:ext cx="17847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Interfaz de Usuario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1"/>
          <p:cNvSpPr txBox="1"/>
          <p:nvPr/>
        </p:nvSpPr>
        <p:spPr>
          <a:xfrm>
            <a:off x="174925" y="3188150"/>
            <a:ext cx="2920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u="none" cap="none" strike="noStrike">
                <a:solidFill>
                  <a:srgbClr val="16A34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FRONTEND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1"/>
          <p:cNvSpPr txBox="1"/>
          <p:nvPr/>
        </p:nvSpPr>
        <p:spPr>
          <a:xfrm>
            <a:off x="2592838" y="2043300"/>
            <a:ext cx="32622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Estructura moderna en HTML5, CSS3, JavaScript puro e integración nativa de plantillas mediante Django Templates.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1"/>
          <p:cNvSpPr/>
          <p:nvPr/>
        </p:nvSpPr>
        <p:spPr>
          <a:xfrm>
            <a:off x="1000125" y="3764700"/>
            <a:ext cx="29208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26" name="Google Shape;426;p11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549098" y="4229212"/>
            <a:ext cx="765116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427" name="Google Shape;427;p11"/>
          <p:cNvSpPr txBox="1"/>
          <p:nvPr/>
        </p:nvSpPr>
        <p:spPr>
          <a:xfrm>
            <a:off x="5586298" y="5036475"/>
            <a:ext cx="28779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Lógica y Datos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1"/>
          <p:cNvSpPr txBox="1"/>
          <p:nvPr/>
        </p:nvSpPr>
        <p:spPr>
          <a:xfrm>
            <a:off x="5586312" y="5330437"/>
            <a:ext cx="287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u="none" cap="none" strike="noStrike">
                <a:solidFill>
                  <a:srgbClr val="DC262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BACKEND &amp; DB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1"/>
          <p:cNvSpPr txBox="1"/>
          <p:nvPr/>
        </p:nvSpPr>
        <p:spPr>
          <a:xfrm>
            <a:off x="8035125" y="4390113"/>
            <a:ext cx="3262200" cy="9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Desarrollado en Python con el framework web Django, almacenamiento local SQLite.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1"/>
          <p:cNvSpPr/>
          <p:nvPr/>
        </p:nvSpPr>
        <p:spPr>
          <a:xfrm>
            <a:off x="4635400" y="3764700"/>
            <a:ext cx="29211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31" name="Google Shape;431;p11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572397" y="1920100"/>
            <a:ext cx="765116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432" name="Google Shape;432;p11"/>
          <p:cNvSpPr txBox="1"/>
          <p:nvPr/>
        </p:nvSpPr>
        <p:spPr>
          <a:xfrm>
            <a:off x="6190500" y="2814163"/>
            <a:ext cx="16695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700" u="none" cap="none" strike="noStrike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Control de Entregas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1"/>
          <p:cNvSpPr txBox="1"/>
          <p:nvPr/>
        </p:nvSpPr>
        <p:spPr>
          <a:xfrm>
            <a:off x="5661950" y="3451537"/>
            <a:ext cx="2877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INFRAESTRUCTURA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1"/>
          <p:cNvSpPr txBox="1"/>
          <p:nvPr/>
        </p:nvSpPr>
        <p:spPr>
          <a:xfrm>
            <a:off x="8035125" y="2043300"/>
            <a:ext cx="3262200" cy="135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16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Control total del código fuente mediante Git, alojado en repositorios protegidos de GitHub con políticas de integración.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1"/>
          <p:cNvSpPr/>
          <p:nvPr/>
        </p:nvSpPr>
        <p:spPr>
          <a:xfrm>
            <a:off x="8270825" y="3764700"/>
            <a:ext cx="2920800" cy="96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36" name="Google Shape;436;p11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6818328" y="2120125"/>
            <a:ext cx="273256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7" name="Google Shape;437;p11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1310177" y="1919775"/>
            <a:ext cx="463846" cy="463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8" name="Google Shape;438;p11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6669415" y="4333991"/>
            <a:ext cx="524650" cy="4572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9" name="Google Shape;439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78900" y="3925412"/>
            <a:ext cx="5236400" cy="1890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0" name="Google Shape;440;p11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1208725" y="4087413"/>
            <a:ext cx="666750" cy="666750"/>
          </a:xfrm>
          <a:prstGeom prst="rect">
            <a:avLst/>
          </a:prstGeom>
          <a:noFill/>
          <a:ln>
            <a:noFill/>
          </a:ln>
        </p:spPr>
      </p:pic>
      <p:sp>
        <p:nvSpPr>
          <p:cNvPr id="441" name="Google Shape;441;p11"/>
          <p:cNvSpPr txBox="1"/>
          <p:nvPr/>
        </p:nvSpPr>
        <p:spPr>
          <a:xfrm>
            <a:off x="707350" y="4792025"/>
            <a:ext cx="16695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700">
                <a:solidFill>
                  <a:srgbClr val="0F172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Validación Externa</a:t>
            </a:r>
            <a:endParaRPr b="0" i="0" sz="19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1"/>
          <p:cNvSpPr txBox="1"/>
          <p:nvPr/>
        </p:nvSpPr>
        <p:spPr>
          <a:xfrm>
            <a:off x="81700" y="5395988"/>
            <a:ext cx="2920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>
                <a:solidFill>
                  <a:srgbClr val="FFD966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VALIDACIÓN</a:t>
            </a:r>
            <a:endParaRPr b="0" i="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1"/>
          <p:cNvSpPr txBox="1"/>
          <p:nvPr/>
        </p:nvSpPr>
        <p:spPr>
          <a:xfrm>
            <a:off x="2612600" y="4092488"/>
            <a:ext cx="3075000" cy="172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16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Servicio externo Auth0 con protocolo OAuth2 que valida credenciales, gestiona sesiones y controla permisos por rol de usuario.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4" name="Google Shape;444;p11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1313500" y="4185313"/>
            <a:ext cx="457200" cy="457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49" name="Google Shape;449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0" name="Google Shape;450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1" name="Google Shape;451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62000" y="1676400"/>
            <a:ext cx="5143500" cy="4215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2" name="Google Shape;452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676400"/>
            <a:ext cx="5143500" cy="4215275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12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2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 txBox="1"/>
          <p:nvPr/>
        </p:nvSpPr>
        <p:spPr>
          <a:xfrm>
            <a:off x="1109662" y="1219200"/>
            <a:ext cx="10836354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Resultados Obtenidos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56" name="Google Shape;456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82250" y="571500"/>
            <a:ext cx="10477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57" name="Google Shape;457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314450"/>
            <a:ext cx="233362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12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2"/>
          <p:cNvSpPr txBox="1"/>
          <p:nvPr/>
        </p:nvSpPr>
        <p:spPr>
          <a:xfrm>
            <a:off x="10734675" y="6153150"/>
            <a:ext cx="6953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60" name="Google Shape;460;p1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61" name="Google Shape;461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95350" y="1962150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12"/>
          <p:cNvSpPr txBox="1"/>
          <p:nvPr/>
        </p:nvSpPr>
        <p:spPr>
          <a:xfrm>
            <a:off x="1290625" y="1990725"/>
            <a:ext cx="4400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Registro Operativo de Tickets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12"/>
          <p:cNvSpPr txBox="1"/>
          <p:nvPr/>
        </p:nvSpPr>
        <p:spPr>
          <a:xfrm>
            <a:off x="1266825" y="2279813"/>
            <a:ext cx="46386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Sistema de creación de incidencias estable, listo para operación de usuarios.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4" name="Google Shape;464;p12"/>
          <p:cNvSpPr txBox="1"/>
          <p:nvPr/>
        </p:nvSpPr>
        <p:spPr>
          <a:xfrm>
            <a:off x="1214450" y="3041363"/>
            <a:ext cx="39393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Estructuración de Roles Funcionando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12"/>
          <p:cNvSpPr txBox="1"/>
          <p:nvPr/>
        </p:nvSpPr>
        <p:spPr>
          <a:xfrm>
            <a:off x="1214450" y="3380200"/>
            <a:ext cx="4638600" cy="8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Autenticación correcta y pantallas personalizadas según cada tipo de perfil de usuario.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6" name="Google Shape;466;p12"/>
          <p:cNvSpPr txBox="1"/>
          <p:nvPr/>
        </p:nvSpPr>
        <p:spPr>
          <a:xfrm>
            <a:off x="1214450" y="4395613"/>
            <a:ext cx="39087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Módulo de Asignación y Control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p12"/>
          <p:cNvSpPr txBox="1"/>
          <p:nvPr/>
        </p:nvSpPr>
        <p:spPr>
          <a:xfrm>
            <a:off x="1266825" y="4724875"/>
            <a:ext cx="46386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Asignación de mantenedores con auditoría e historial automático de cambios.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2"/>
          <p:cNvSpPr txBox="1"/>
          <p:nvPr/>
        </p:nvSpPr>
        <p:spPr>
          <a:xfrm>
            <a:off x="6817438" y="2043900"/>
            <a:ext cx="3591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Trazabilidad y Log de Estados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12"/>
          <p:cNvSpPr txBox="1"/>
          <p:nvPr/>
        </p:nvSpPr>
        <p:spPr>
          <a:xfrm>
            <a:off x="6793638" y="2332992"/>
            <a:ext cx="44007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Flujo de vida del ticket controlado con marcas de tiempo y auditoría de eventos.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0" name="Google Shape;470;p12"/>
          <p:cNvSpPr txBox="1"/>
          <p:nvPr/>
        </p:nvSpPr>
        <p:spPr>
          <a:xfrm>
            <a:off x="6805538" y="3098825"/>
            <a:ext cx="3591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Dashboard en Tiempo Real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1" name="Google Shape;471;p12"/>
          <p:cNvSpPr txBox="1"/>
          <p:nvPr/>
        </p:nvSpPr>
        <p:spPr>
          <a:xfrm>
            <a:off x="6805538" y="3437671"/>
            <a:ext cx="44007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Métricas e indicadores clave para toma de decisiones y control de eficiencia.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2" name="Google Shape;472;p12"/>
          <p:cNvSpPr txBox="1"/>
          <p:nvPr/>
        </p:nvSpPr>
        <p:spPr>
          <a:xfrm>
            <a:off x="6738950" y="4317013"/>
            <a:ext cx="3591000" cy="2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6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Modelo de Datos Consolidado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12"/>
          <p:cNvSpPr txBox="1"/>
          <p:nvPr/>
        </p:nvSpPr>
        <p:spPr>
          <a:xfrm>
            <a:off x="6791325" y="4646265"/>
            <a:ext cx="4067100" cy="55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b="0" i="0" lang="en-US" sz="1675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Base relacional optimizada con persistencia íntegra lista para escalar.</a:t>
            </a:r>
            <a:endParaRPr b="0" i="0" sz="2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74" name="Google Shape;474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42975" y="3012788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5" name="Google Shape;475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942975" y="4400438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6" name="Google Shape;476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2163" y="203527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7" name="Google Shape;477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10263" y="309452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8" name="Google Shape;478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43675" y="4299763"/>
            <a:ext cx="209550" cy="209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3" name="Google Shape;48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4" name="Google Shape;48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5" name="Google Shape;48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6250" y="1968114"/>
            <a:ext cx="5143500" cy="17847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6" name="Google Shape;486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4216014"/>
            <a:ext cx="51435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13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p13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3"/>
          <p:cNvSpPr txBox="1"/>
          <p:nvPr/>
        </p:nvSpPr>
        <p:spPr>
          <a:xfrm>
            <a:off x="1138237" y="1219200"/>
            <a:ext cx="108063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Obstáculos Presentados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90" name="Google Shape;490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839325" y="571500"/>
            <a:ext cx="1590675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1" name="Google Shape;491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62000" y="1314450"/>
            <a:ext cx="261937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492" name="Google Shape;492;p13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3"/>
          <p:cNvSpPr txBox="1"/>
          <p:nvPr/>
        </p:nvSpPr>
        <p:spPr>
          <a:xfrm>
            <a:off x="10734675" y="6153150"/>
            <a:ext cx="6953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94" name="Google Shape;494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13"/>
          <p:cNvSpPr txBox="1"/>
          <p:nvPr/>
        </p:nvSpPr>
        <p:spPr>
          <a:xfrm>
            <a:off x="1309650" y="2206239"/>
            <a:ext cx="4590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450">
                <a:solidFill>
                  <a:srgbClr val="C241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Versiones de commit no compatibles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3"/>
          <p:cNvSpPr txBox="1"/>
          <p:nvPr/>
        </p:nvSpPr>
        <p:spPr>
          <a:xfrm>
            <a:off x="1042950" y="2577737"/>
            <a:ext cx="4638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i="1" lang="en-US" sz="16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“Se originaron bugs y problemas de versionado en entornos de trabajo al momento de desplegar el servidor.”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13"/>
          <p:cNvSpPr txBox="1"/>
          <p:nvPr/>
        </p:nvSpPr>
        <p:spPr>
          <a:xfrm>
            <a:off x="6819900" y="4454139"/>
            <a:ext cx="4590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450" u="none" cap="none" strike="noStrike">
                <a:solidFill>
                  <a:srgbClr val="C241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Coordinación del Equipo de Trabajo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8" name="Google Shape;498;p13"/>
          <p:cNvSpPr txBox="1"/>
          <p:nvPr/>
        </p:nvSpPr>
        <p:spPr>
          <a:xfrm>
            <a:off x="6553200" y="4825625"/>
            <a:ext cx="48573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6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"Los horarios laborales y personales dificultaron la coordinación de reuniones presenciales, retrasando algunas etapas críticas."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499" name="Google Shape;499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7451" y="2179615"/>
            <a:ext cx="261925" cy="2764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00" name="Google Shape;500;p1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507950" y="4474324"/>
            <a:ext cx="261950" cy="261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01" name="Google Shape;501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76250" y="4216014"/>
            <a:ext cx="51435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13"/>
          <p:cNvSpPr txBox="1"/>
          <p:nvPr/>
        </p:nvSpPr>
        <p:spPr>
          <a:xfrm>
            <a:off x="1309650" y="4454139"/>
            <a:ext cx="4590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450" u="none" cap="none" strike="noStrike">
                <a:solidFill>
                  <a:srgbClr val="C241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Alcance de Business Intelligence (BI)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3"/>
          <p:cNvSpPr txBox="1"/>
          <p:nvPr/>
        </p:nvSpPr>
        <p:spPr>
          <a:xfrm>
            <a:off x="1042950" y="4825637"/>
            <a:ext cx="46386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6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"Inicialmente no teníamos claro cómo integrar inteligencia de negocios sin convertir el sistema en un simple CRUD convencional."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04" name="Google Shape;504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007450" y="4427515"/>
            <a:ext cx="261925" cy="27647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05" name="Google Shape;505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987164"/>
            <a:ext cx="5143500" cy="1784746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13"/>
          <p:cNvSpPr txBox="1"/>
          <p:nvPr/>
        </p:nvSpPr>
        <p:spPr>
          <a:xfrm>
            <a:off x="6819900" y="2225289"/>
            <a:ext cx="4590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450">
                <a:solidFill>
                  <a:srgbClr val="C241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Reestructuración de funcionalidades</a:t>
            </a:r>
            <a:endParaRPr b="0" i="0" sz="15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3"/>
          <p:cNvSpPr txBox="1"/>
          <p:nvPr/>
        </p:nvSpPr>
        <p:spPr>
          <a:xfrm>
            <a:off x="6553200" y="2596775"/>
            <a:ext cx="48768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6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r>
              <a:rPr i="1" lang="en-US" sz="165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Cambio o eliminación de opciones disponibles para los diferentes usuarios y roles para ajustarnos a las nuevas necesidades.</a:t>
            </a:r>
            <a:r>
              <a:rPr b="0" i="1" lang="en-US" sz="165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"</a:t>
            </a:r>
            <a:endParaRPr b="0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08" name="Google Shape;508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07962" y="2198666"/>
            <a:ext cx="261925" cy="2764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13" name="Google Shape;513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14" name="Google Shape;514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14"/>
          <p:cNvSpPr txBox="1"/>
          <p:nvPr/>
        </p:nvSpPr>
        <p:spPr>
          <a:xfrm>
            <a:off x="3143250" y="571500"/>
            <a:ext cx="8286750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563E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 — Campus Seguro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14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17" name="Google Shape;51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182225" y="571500"/>
            <a:ext cx="1247775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518" name="Google Shape;518;p14"/>
          <p:cNvSpPr txBox="1"/>
          <p:nvPr/>
        </p:nvSpPr>
        <p:spPr>
          <a:xfrm>
            <a:off x="762000" y="6153150"/>
            <a:ext cx="14478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Presentación Final Capstone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p14"/>
          <p:cNvSpPr txBox="1"/>
          <p:nvPr/>
        </p:nvSpPr>
        <p:spPr>
          <a:xfrm>
            <a:off x="10734675" y="6153150"/>
            <a:ext cx="6953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Diapositiva 14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20" name="Google Shape;520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14"/>
          <p:cNvSpPr txBox="1"/>
          <p:nvPr/>
        </p:nvSpPr>
        <p:spPr>
          <a:xfrm>
            <a:off x="3095625" y="3086100"/>
            <a:ext cx="600075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0" i="0" lang="en-US" sz="3000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Demostración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2" name="Google Shape;522;p14"/>
          <p:cNvSpPr txBox="1"/>
          <p:nvPr/>
        </p:nvSpPr>
        <p:spPr>
          <a:xfrm>
            <a:off x="3238500" y="3800475"/>
            <a:ext cx="5715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23" name="Google Shape;523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53100" y="2171700"/>
            <a:ext cx="685800" cy="60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28" name="Google Shape;52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29" name="Google Shape;52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6000750"/>
            <a:ext cx="10668000" cy="285750"/>
          </a:xfrm>
          <a:prstGeom prst="rect">
            <a:avLst/>
          </a:prstGeom>
          <a:noFill/>
          <a:ln>
            <a:noFill/>
          </a:ln>
        </p:spPr>
      </p:pic>
      <p:sp>
        <p:nvSpPr>
          <p:cNvPr id="530" name="Google Shape;530;p15"/>
          <p:cNvSpPr txBox="1"/>
          <p:nvPr/>
        </p:nvSpPr>
        <p:spPr>
          <a:xfrm>
            <a:off x="1685925" y="571500"/>
            <a:ext cx="9744075" cy="219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0A5FA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15"/>
          <p:cNvSpPr/>
          <p:nvPr/>
        </p:nvSpPr>
        <p:spPr>
          <a:xfrm>
            <a:off x="762000" y="923925"/>
            <a:ext cx="10668000" cy="9525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32" name="Google Shape;532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744200" y="571500"/>
            <a:ext cx="68580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15"/>
          <p:cNvSpPr txBox="1"/>
          <p:nvPr/>
        </p:nvSpPr>
        <p:spPr>
          <a:xfrm>
            <a:off x="762000" y="6153150"/>
            <a:ext cx="28956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Escuela de Informática y Telecomunicaciones — Duoc UC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4" name="Google Shape;534;p15"/>
          <p:cNvSpPr txBox="1"/>
          <p:nvPr/>
        </p:nvSpPr>
        <p:spPr>
          <a:xfrm>
            <a:off x="10315575" y="6153150"/>
            <a:ext cx="1114425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Fin de la Presentación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535" name="Google Shape;53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62000" y="609600"/>
            <a:ext cx="180975" cy="133350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15"/>
          <p:cNvSpPr txBox="1"/>
          <p:nvPr/>
        </p:nvSpPr>
        <p:spPr>
          <a:xfrm>
            <a:off x="2980610" y="2957512"/>
            <a:ext cx="6230778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¡Gracias por su atención!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15"/>
          <p:cNvSpPr txBox="1"/>
          <p:nvPr/>
        </p:nvSpPr>
        <p:spPr>
          <a:xfrm>
            <a:off x="3128962" y="3786187"/>
            <a:ext cx="5934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5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Proyecto "Campus Seguro</a:t>
            </a:r>
            <a:r>
              <a:rPr lang="en-US" sz="15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”</a:t>
            </a:r>
            <a:r>
              <a:rPr b="0" i="0" lang="en-US" sz="15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8" name="Google Shape;538;p15"/>
          <p:cNvSpPr txBox="1"/>
          <p:nvPr/>
        </p:nvSpPr>
        <p:spPr>
          <a:xfrm>
            <a:off x="4724400" y="4519612"/>
            <a:ext cx="2743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9" name="Google Shape;539;p15"/>
          <p:cNvSpPr txBox="1"/>
          <p:nvPr/>
        </p:nvSpPr>
        <p:spPr>
          <a:xfrm>
            <a:off x="4724400" y="4719637"/>
            <a:ext cx="27432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