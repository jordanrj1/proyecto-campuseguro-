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Inter SemiBold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Poppins"/>
      <p:regular r:id="rId35"/>
      <p:bold r:id="rId36"/>
      <p:italic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  <p:embeddedFont>
      <p:font typeface="Inter Medium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7" roundtripDataSignature="AMtx7miAIz3UBp9Qki63f9jNoZzrkjkh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.fntdata"/><Relationship Id="rId20" Type="http://schemas.openxmlformats.org/officeDocument/2006/relationships/slide" Target="slides/slide15.xml"/><Relationship Id="rId42" Type="http://schemas.openxmlformats.org/officeDocument/2006/relationships/font" Target="fonts/PoppinsSemiBold-boldItalic.fntdata"/><Relationship Id="rId41" Type="http://schemas.openxmlformats.org/officeDocument/2006/relationships/font" Target="fonts/PoppinsSemiBold-italic.fntdata"/><Relationship Id="rId22" Type="http://schemas.openxmlformats.org/officeDocument/2006/relationships/slide" Target="slides/slide17.xml"/><Relationship Id="rId44" Type="http://schemas.openxmlformats.org/officeDocument/2006/relationships/font" Target="fonts/InterMedium-bold.fntdata"/><Relationship Id="rId21" Type="http://schemas.openxmlformats.org/officeDocument/2006/relationships/slide" Target="slides/slide16.xml"/><Relationship Id="rId43" Type="http://schemas.openxmlformats.org/officeDocument/2006/relationships/font" Target="fonts/InterMedium-regular.fntdata"/><Relationship Id="rId24" Type="http://schemas.openxmlformats.org/officeDocument/2006/relationships/font" Target="fonts/InterSemiBold-bold.fntdata"/><Relationship Id="rId46" Type="http://schemas.openxmlformats.org/officeDocument/2006/relationships/font" Target="fonts/InterMedium-boldItalic.fntdata"/><Relationship Id="rId23" Type="http://schemas.openxmlformats.org/officeDocument/2006/relationships/font" Target="fonts/InterSemiBold-regular.fntdata"/><Relationship Id="rId45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47" Type="http://customschemas.google.com/relationships/presentationmetadata" Target="meta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Inter-italic.fntdata"/><Relationship Id="rId10" Type="http://schemas.openxmlformats.org/officeDocument/2006/relationships/slide" Target="slides/slide5.xml"/><Relationship Id="rId32" Type="http://schemas.openxmlformats.org/officeDocument/2006/relationships/font" Target="fonts/Inter-bold.fntdata"/><Relationship Id="rId13" Type="http://schemas.openxmlformats.org/officeDocument/2006/relationships/slide" Target="slides/slide8.xml"/><Relationship Id="rId35" Type="http://schemas.openxmlformats.org/officeDocument/2006/relationships/font" Target="fonts/Poppins-regular.fntdata"/><Relationship Id="rId12" Type="http://schemas.openxmlformats.org/officeDocument/2006/relationships/slide" Target="slides/slide7.xml"/><Relationship Id="rId34" Type="http://schemas.openxmlformats.org/officeDocument/2006/relationships/font" Target="fonts/Inter-boldItalic.fntdata"/><Relationship Id="rId15" Type="http://schemas.openxmlformats.org/officeDocument/2006/relationships/slide" Target="slides/slide10.xml"/><Relationship Id="rId37" Type="http://schemas.openxmlformats.org/officeDocument/2006/relationships/font" Target="fonts/Poppins-italic.fntdata"/><Relationship Id="rId14" Type="http://schemas.openxmlformats.org/officeDocument/2006/relationships/slide" Target="slides/slide9.xml"/><Relationship Id="rId36" Type="http://schemas.openxmlformats.org/officeDocument/2006/relationships/font" Target="fonts/Poppins-bold.fntdata"/><Relationship Id="rId17" Type="http://schemas.openxmlformats.org/officeDocument/2006/relationships/slide" Target="slides/slide12.xml"/><Relationship Id="rId39" Type="http://schemas.openxmlformats.org/officeDocument/2006/relationships/font" Target="fonts/PoppinsSemiBold-regular.fntdata"/><Relationship Id="rId16" Type="http://schemas.openxmlformats.org/officeDocument/2006/relationships/slide" Target="slides/slide11.xml"/><Relationship Id="rId38" Type="http://schemas.openxmlformats.org/officeDocument/2006/relationships/font" Target="fonts/Poppi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dd214199d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edd214199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dd214199d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edd214199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" name="Google Shape;4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4" name="Google Shape;4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8" name="Google Shape;47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8" name="Google Shape;50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4" name="Google Shape;52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4.png"/><Relationship Id="rId8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7.png"/><Relationship Id="rId13" Type="http://schemas.openxmlformats.org/officeDocument/2006/relationships/image" Target="../media/image11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8.png"/><Relationship Id="rId15" Type="http://schemas.openxmlformats.org/officeDocument/2006/relationships/image" Target="../media/image12.png"/><Relationship Id="rId14" Type="http://schemas.openxmlformats.org/officeDocument/2006/relationships/image" Target="../media/image17.png"/><Relationship Id="rId16" Type="http://schemas.openxmlformats.org/officeDocument/2006/relationships/image" Target="../media/image25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15.png"/><Relationship Id="rId13" Type="http://schemas.openxmlformats.org/officeDocument/2006/relationships/image" Target="../media/image20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39.png"/><Relationship Id="rId5" Type="http://schemas.openxmlformats.org/officeDocument/2006/relationships/image" Target="../media/image32.png"/><Relationship Id="rId6" Type="http://schemas.openxmlformats.org/officeDocument/2006/relationships/image" Target="../media/image23.png"/><Relationship Id="rId7" Type="http://schemas.openxmlformats.org/officeDocument/2006/relationships/image" Target="../media/image30.png"/><Relationship Id="rId8" Type="http://schemas.openxmlformats.org/officeDocument/2006/relationships/image" Target="../media/image40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31.png"/><Relationship Id="rId6" Type="http://schemas.openxmlformats.org/officeDocument/2006/relationships/image" Target="../media/image41.png"/><Relationship Id="rId7" Type="http://schemas.openxmlformats.org/officeDocument/2006/relationships/image" Target="../media/image55.png"/><Relationship Id="rId8" Type="http://schemas.openxmlformats.org/officeDocument/2006/relationships/image" Target="../media/image35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51.png"/><Relationship Id="rId6" Type="http://schemas.openxmlformats.org/officeDocument/2006/relationships/image" Target="../media/image43.png"/><Relationship Id="rId7" Type="http://schemas.openxmlformats.org/officeDocument/2006/relationships/image" Target="../media/image55.png"/><Relationship Id="rId8" Type="http://schemas.openxmlformats.org/officeDocument/2006/relationships/image" Target="../media/image38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57.png"/><Relationship Id="rId11" Type="http://schemas.openxmlformats.org/officeDocument/2006/relationships/image" Target="../media/image47.png"/><Relationship Id="rId22" Type="http://schemas.openxmlformats.org/officeDocument/2006/relationships/image" Target="../media/image59.png"/><Relationship Id="rId10" Type="http://schemas.openxmlformats.org/officeDocument/2006/relationships/image" Target="../media/image7.png"/><Relationship Id="rId21" Type="http://schemas.openxmlformats.org/officeDocument/2006/relationships/image" Target="../media/image60.png"/><Relationship Id="rId13" Type="http://schemas.openxmlformats.org/officeDocument/2006/relationships/image" Target="../media/image58.png"/><Relationship Id="rId1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37.png"/><Relationship Id="rId15" Type="http://schemas.openxmlformats.org/officeDocument/2006/relationships/image" Target="../media/image54.png"/><Relationship Id="rId14" Type="http://schemas.openxmlformats.org/officeDocument/2006/relationships/image" Target="../media/image44.png"/><Relationship Id="rId17" Type="http://schemas.openxmlformats.org/officeDocument/2006/relationships/image" Target="../media/image52.png"/><Relationship Id="rId16" Type="http://schemas.openxmlformats.org/officeDocument/2006/relationships/image" Target="../media/image48.png"/><Relationship Id="rId5" Type="http://schemas.openxmlformats.org/officeDocument/2006/relationships/image" Target="../media/image46.png"/><Relationship Id="rId19" Type="http://schemas.openxmlformats.org/officeDocument/2006/relationships/image" Target="../media/image56.png"/><Relationship Id="rId6" Type="http://schemas.openxmlformats.org/officeDocument/2006/relationships/image" Target="../media/image50.png"/><Relationship Id="rId18" Type="http://schemas.openxmlformats.org/officeDocument/2006/relationships/image" Target="../media/image49.png"/><Relationship Id="rId7" Type="http://schemas.openxmlformats.org/officeDocument/2006/relationships/image" Target="../media/image62.png"/><Relationship Id="rId8" Type="http://schemas.openxmlformats.org/officeDocument/2006/relationships/image" Target="../media/image4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1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69.png"/><Relationship Id="rId10" Type="http://schemas.openxmlformats.org/officeDocument/2006/relationships/image" Target="../media/image7.png"/><Relationship Id="rId13" Type="http://schemas.openxmlformats.org/officeDocument/2006/relationships/image" Target="../media/image68.png"/><Relationship Id="rId1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64.png"/><Relationship Id="rId5" Type="http://schemas.openxmlformats.org/officeDocument/2006/relationships/image" Target="../media/image84.png"/><Relationship Id="rId6" Type="http://schemas.openxmlformats.org/officeDocument/2006/relationships/image" Target="../media/image75.png"/><Relationship Id="rId7" Type="http://schemas.openxmlformats.org/officeDocument/2006/relationships/image" Target="../media/image67.png"/><Relationship Id="rId8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4.png"/><Relationship Id="rId5" Type="http://schemas.openxmlformats.org/officeDocument/2006/relationships/image" Target="../media/image63.png"/><Relationship Id="rId6" Type="http://schemas.openxmlformats.org/officeDocument/2006/relationships/image" Target="../media/image7.png"/><Relationship Id="rId7" Type="http://schemas.openxmlformats.org/officeDocument/2006/relationships/image" Target="../media/image111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8.png"/><Relationship Id="rId10" Type="http://schemas.openxmlformats.org/officeDocument/2006/relationships/image" Target="../media/image7.png"/><Relationship Id="rId13" Type="http://schemas.openxmlformats.org/officeDocument/2006/relationships/image" Target="../media/image71.png"/><Relationship Id="rId12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65.png"/><Relationship Id="rId14" Type="http://schemas.openxmlformats.org/officeDocument/2006/relationships/image" Target="../media/image82.png"/><Relationship Id="rId5" Type="http://schemas.openxmlformats.org/officeDocument/2006/relationships/image" Target="../media/image73.png"/><Relationship Id="rId6" Type="http://schemas.openxmlformats.org/officeDocument/2006/relationships/image" Target="../media/image76.png"/><Relationship Id="rId7" Type="http://schemas.openxmlformats.org/officeDocument/2006/relationships/image" Target="../media/image83.png"/><Relationship Id="rId8" Type="http://schemas.openxmlformats.org/officeDocument/2006/relationships/image" Target="../media/image7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2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90.png"/><Relationship Id="rId10" Type="http://schemas.openxmlformats.org/officeDocument/2006/relationships/image" Target="../media/image7.png"/><Relationship Id="rId13" Type="http://schemas.openxmlformats.org/officeDocument/2006/relationships/image" Target="../media/image87.png"/><Relationship Id="rId1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81.png"/><Relationship Id="rId15" Type="http://schemas.openxmlformats.org/officeDocument/2006/relationships/image" Target="../media/image95.png"/><Relationship Id="rId14" Type="http://schemas.openxmlformats.org/officeDocument/2006/relationships/image" Target="../media/image97.png"/><Relationship Id="rId17" Type="http://schemas.openxmlformats.org/officeDocument/2006/relationships/image" Target="../media/image92.png"/><Relationship Id="rId16" Type="http://schemas.openxmlformats.org/officeDocument/2006/relationships/image" Target="../media/image98.png"/><Relationship Id="rId5" Type="http://schemas.openxmlformats.org/officeDocument/2006/relationships/image" Target="../media/image93.png"/><Relationship Id="rId6" Type="http://schemas.openxmlformats.org/officeDocument/2006/relationships/image" Target="../media/image96.png"/><Relationship Id="rId18" Type="http://schemas.openxmlformats.org/officeDocument/2006/relationships/image" Target="../media/image88.png"/><Relationship Id="rId7" Type="http://schemas.openxmlformats.org/officeDocument/2006/relationships/image" Target="../media/image77.png"/><Relationship Id="rId8" Type="http://schemas.openxmlformats.org/officeDocument/2006/relationships/image" Target="../media/image86.png"/></Relationships>
</file>

<file path=ppt/slides/_rels/slide14.xml.rels><?xml version="1.0" encoding="UTF-8" standalone="yes"?><Relationships xmlns="http://schemas.openxmlformats.org/package/2006/relationships"><Relationship Id="rId10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85.png"/><Relationship Id="rId6" Type="http://schemas.openxmlformats.org/officeDocument/2006/relationships/image" Target="../media/image43.png"/><Relationship Id="rId7" Type="http://schemas.openxmlformats.org/officeDocument/2006/relationships/image" Target="../media/image102.png"/><Relationship Id="rId8" Type="http://schemas.openxmlformats.org/officeDocument/2006/relationships/image" Target="../media/image94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8.png"/><Relationship Id="rId10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106.png"/><Relationship Id="rId6" Type="http://schemas.openxmlformats.org/officeDocument/2006/relationships/image" Target="../media/image103.png"/><Relationship Id="rId7" Type="http://schemas.openxmlformats.org/officeDocument/2006/relationships/image" Target="../media/image101.png"/><Relationship Id="rId8" Type="http://schemas.openxmlformats.org/officeDocument/2006/relationships/image" Target="../media/image10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1.png"/><Relationship Id="rId5" Type="http://schemas.openxmlformats.org/officeDocument/2006/relationships/image" Target="../media/image109.png"/><Relationship Id="rId6" Type="http://schemas.openxmlformats.org/officeDocument/2006/relationships/image" Target="../media/image112.png"/><Relationship Id="rId7" Type="http://schemas.openxmlformats.org/officeDocument/2006/relationships/image" Target="../media/image7.png"/><Relationship Id="rId8" Type="http://schemas.openxmlformats.org/officeDocument/2006/relationships/image" Target="../media/image9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110.png"/><Relationship Id="rId6" Type="http://schemas.openxmlformats.org/officeDocument/2006/relationships/image" Target="../media/image107.png"/><Relationship Id="rId7" Type="http://schemas.openxmlformats.org/officeDocument/2006/relationships/image" Target="../media/image4.png"/><Relationship Id="rId8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8500" y="4262883"/>
            <a:ext cx="57150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685925" y="571500"/>
            <a:ext cx="97440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" name="Google Shape;8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01187" y="571500"/>
            <a:ext cx="1928812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62000" y="61531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Escuela de Informática y Telecomunicaciones —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1163300" y="615315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2" name="Google Shape;9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95850" y="2404616"/>
            <a:ext cx="24003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2263020" y="2918966"/>
            <a:ext cx="7665958" cy="591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445543" y="3653283"/>
            <a:ext cx="73009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Sistema Centralizado de Gestión y Control de Incidencias de Infraestructura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238500" y="4510533"/>
            <a:ext cx="180558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Autores:</a:t>
            </a: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M. Muñoz, I. Palma, J. García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5329832" y="4510533"/>
            <a:ext cx="131995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Docente:</a:t>
            </a: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Guía de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6935539" y="4510533"/>
            <a:ext cx="20179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Escuela:</a:t>
            </a: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Informática y Telecomunicaciones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631281"/>
            <a:ext cx="3397150" cy="2652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7275" y="2631281"/>
            <a:ext cx="3397299" cy="2652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32700" y="2631281"/>
            <a:ext cx="3397150" cy="265271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1204912" y="1219200"/>
            <a:ext cx="1073634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Integrantes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1" name="Google Shape;111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72662" y="571500"/>
            <a:ext cx="155733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5" name="Google Shape;115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127200" y="292655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/>
          <p:cNvSpPr txBox="1"/>
          <p:nvPr/>
        </p:nvSpPr>
        <p:spPr>
          <a:xfrm>
            <a:off x="1000125" y="3783806"/>
            <a:ext cx="2920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Moisés Muñoz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000125" y="4021931"/>
            <a:ext cx="2920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MANAGER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1000125" y="4421981"/>
            <a:ext cx="29208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Liderazgo de desarrollo frontend, backend, coordinación general y distribución de arquitectura de sistemas.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1000125" y="4307681"/>
            <a:ext cx="29209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1" name="Google Shape;121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62476" y="292655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/>
          <p:nvPr/>
        </p:nvSpPr>
        <p:spPr>
          <a:xfrm>
            <a:off x="4635400" y="3783806"/>
            <a:ext cx="29210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Ignacio Palma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4635400" y="4021931"/>
            <a:ext cx="29210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ENCARGADO DE DOCUMENTACIÓN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4635400" y="4421981"/>
            <a:ext cx="29211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Redacción de especificaciones funcionales, desarrollo de módulos frontend/backend y estructuración técnica.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4635400" y="4307681"/>
            <a:ext cx="292104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6" name="Google Shape;126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97900" y="292655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"/>
          <p:cNvSpPr txBox="1"/>
          <p:nvPr/>
        </p:nvSpPr>
        <p:spPr>
          <a:xfrm>
            <a:off x="8270825" y="3783806"/>
            <a:ext cx="2920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Jordan García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8270825" y="4021931"/>
            <a:ext cx="2920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ANALISTA DE VALIDACIÓN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8270825" y="4421981"/>
            <a:ext cx="29208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Garantía de calidad de software (QA), validación funcional del flujo del sistema y soporte transversal de desarrollo.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8270825" y="4307681"/>
            <a:ext cx="29209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1" name="Google Shape;131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341512" y="3126581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943451" y="3126581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631263" y="3126581"/>
            <a:ext cx="20002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710437"/>
            <a:ext cx="5143500" cy="3389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676400"/>
            <a:ext cx="5143500" cy="34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1138237" y="1219200"/>
            <a:ext cx="10806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Descripción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5" name="Google Shape;14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06075" y="571500"/>
            <a:ext cx="923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314450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9" name="Google Shape;149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/>
          <p:cNvSpPr txBox="1"/>
          <p:nvPr/>
        </p:nvSpPr>
        <p:spPr>
          <a:xfrm>
            <a:off x="1300338" y="1826292"/>
            <a:ext cx="459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C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Dolor /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1014450" y="2267090"/>
            <a:ext cx="46386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En el campus, los estudiantes y personal no cuentan con un sistema eficiente para reportar, mientra que por otro lado el personal interno del campus no posee un sistema de flujo limpio que ayude a organizar de manera </a:t>
            </a:r>
            <a:r>
              <a:rPr lang="en-US" sz="10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eficaz</a:t>
            </a:r>
            <a:r>
              <a:rPr lang="en-US" sz="10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las labores de mantenimiento.</a:t>
            </a:r>
            <a:endParaRPr sz="105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6834438" y="1804867"/>
            <a:ext cx="459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6538950" y="2105029"/>
            <a:ext cx="46386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Plataforma web que centraliza el reporte, inspección y reparación en un único ticket con flujo de estados definido. </a:t>
            </a:r>
            <a:endParaRPr sz="105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descr="image.png" id="154" name="Google Shape;154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3638" y="1869154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"/>
          <p:cNvSpPr txBox="1"/>
          <p:nvPr/>
        </p:nvSpPr>
        <p:spPr>
          <a:xfrm>
            <a:off x="1243050" y="3430495"/>
            <a:ext cx="441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Reportes generados de forma manual.</a:t>
            </a:r>
            <a:endParaRPr sz="10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1243050" y="3846995"/>
            <a:ext cx="441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Registro histórico inexistente o muy débil.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1243050" y="4282545"/>
            <a:ext cx="44100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Baja comunicación entre usuarios, guardias y técnicos de mantención.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8" name="Google Shape;158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67738" y="184772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"/>
          <p:cNvSpPr txBox="1"/>
          <p:nvPr/>
        </p:nvSpPr>
        <p:spPr>
          <a:xfrm>
            <a:off x="6786525" y="3446270"/>
            <a:ext cx="439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Flujo de vida claro del ticket con registro de evidencia multimedia, materiales utilizados, sesiones de trabajo y declaraciones de no reparabilidad.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6786525" y="4245745"/>
            <a:ext cx="439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Trazabilidad completa en la asignación de mantenedores.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6786525" y="4574295"/>
            <a:ext cx="43911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Panel de BI para que el gestor visualice riesgos, carga de trabajo, historial por ubicación y rendimiento del equipo en tiempo real.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2" name="Google Shape;162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14450" y="344954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14450" y="386604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14450" y="430159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38875" y="343987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38875" y="424574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38875" y="457894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"/>
          <p:cNvSpPr txBox="1"/>
          <p:nvPr/>
        </p:nvSpPr>
        <p:spPr>
          <a:xfrm>
            <a:off x="6786525" y="2942995"/>
            <a:ext cx="43911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Canal de comunicación estructurado entre usuario, gestor ,guardia y técnico a través del ciclo de vida del ticket.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9" name="Google Shape;169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38875" y="2936595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338982"/>
            <a:ext cx="10668000" cy="1119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886795"/>
            <a:ext cx="3397150" cy="16894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97275" y="3886795"/>
            <a:ext cx="3397299" cy="16894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32700" y="3886795"/>
            <a:ext cx="3397150" cy="168949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4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1138237" y="1219200"/>
            <a:ext cx="10806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3" name="Google Shape;183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10825" y="571500"/>
            <a:ext cx="10191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1314450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7" name="Google Shape;187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"/>
          <p:cNvSpPr txBox="1"/>
          <p:nvPr/>
        </p:nvSpPr>
        <p:spPr>
          <a:xfrm>
            <a:off x="1000125" y="2577107"/>
            <a:ext cx="10191900" cy="66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Objetivo General:</a:t>
            </a:r>
            <a:r>
              <a:rPr b="0" i="0" lang="en-US" sz="1125" u="none" cap="none" strike="noStrik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Desarrollar e implementar una plataforma web centralizada que digitalice y estructure el proceso de gestión de incidencias de infraestructura en el campus, articulando la comunicación entre usuarios, guardias y técnicos de mantención a través de un flujo de tickets con estados, evidencia multimedia, registro de materiales e historial de intervenciones, proporcionando al gestor visibilidad en tiempo real mediante dashboards de análisis para la toma de decisiones operativas.</a:t>
            </a:r>
            <a:r>
              <a:rPr lang="en-US" sz="1050">
                <a:solidFill>
                  <a:schemeClr val="dk1"/>
                </a:solidFill>
              </a:rPr>
              <a:t> </a:t>
            </a:r>
            <a:endParaRPr sz="105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1000125" y="4124920"/>
            <a:ext cx="2920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50%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1000125" y="4734520"/>
            <a:ext cx="2920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 Tiempos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1000125" y="4991695"/>
            <a:ext cx="2920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Reducción proyectada en los tiempos de respuesta y solución de incidencias.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4635400" y="4124920"/>
            <a:ext cx="292104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90%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4635400" y="4734520"/>
            <a:ext cx="292104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Trazabilidad 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4635400" y="4991695"/>
            <a:ext cx="2921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Control exacto sobre el ciclo de vida de los reportes generados.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8270825" y="4124920"/>
            <a:ext cx="2920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80%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8270825" y="4734520"/>
            <a:ext cx="2920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Eficiencia Operativa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8270825" y="4991695"/>
            <a:ext cx="2920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Mejora en la efectividad de asignación del equipo de mantenimiento.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018532"/>
            <a:ext cx="5143500" cy="1878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018532"/>
            <a:ext cx="5143500" cy="187821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5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Alcances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9" name="Google Shape;20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15562" y="571500"/>
            <a:ext cx="121443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5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3" name="Google Shape;213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125" y="327570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5"/>
          <p:cNvSpPr txBox="1"/>
          <p:nvPr/>
        </p:nvSpPr>
        <p:spPr>
          <a:xfrm>
            <a:off x="1266825" y="3275707"/>
            <a:ext cx="183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Plataforma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1266825" y="3494782"/>
            <a:ext cx="4400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Interfaz accesible desde navegadores modernos</a:t>
            </a: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en computadoras de escritorio</a:t>
            </a: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7" name="Google Shape;21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125" y="404336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5"/>
          <p:cNvSpPr txBox="1"/>
          <p:nvPr/>
        </p:nvSpPr>
        <p:spPr>
          <a:xfrm>
            <a:off x="1266825" y="4043362"/>
            <a:ext cx="2447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Gestión de Usuarios Basada en Roles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1266825" y="4262437"/>
            <a:ext cx="4400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Autenticación estructurada con 4 niveles de acceso y permisos: Usuario Final, Guardia de Seguridad, Mantenedor y Administrador.</a:t>
            </a:r>
            <a:endParaRPr b="0" i="0" sz="14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0" name="Google Shape;220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327570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5"/>
          <p:cNvSpPr txBox="1"/>
          <p:nvPr/>
        </p:nvSpPr>
        <p:spPr>
          <a:xfrm>
            <a:off x="6791325" y="3275707"/>
            <a:ext cx="22098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Flujo Completo de Vida del Ticket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6791325" y="3494782"/>
            <a:ext cx="4400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Estados administrables que van desde: Creado → Enviado → Validado → En Mantenimiento → Reparado → Cerrado.</a:t>
            </a:r>
            <a:endParaRPr b="0" i="0" sz="14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3" name="Google Shape;223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404336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5"/>
          <p:cNvSpPr txBox="1"/>
          <p:nvPr/>
        </p:nvSpPr>
        <p:spPr>
          <a:xfrm>
            <a:off x="6791325" y="4043350"/>
            <a:ext cx="398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Registro de Evidencia y Recursos de Materiales Utilizados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6791325" y="4262437"/>
            <a:ext cx="44007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Trazabilidad operativa que permite registrar y asociar materiales con evidencia fotográfica, sesiones de trabajo e historial de intervenciones en cada sesión de mantenimiento.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43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634704"/>
            <a:ext cx="5143500" cy="264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634704"/>
            <a:ext cx="5143500" cy="264586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6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7" name="Google Shape;23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15562" y="571500"/>
            <a:ext cx="121443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6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1" name="Google Shape;241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6"/>
          <p:cNvSpPr txBox="1"/>
          <p:nvPr/>
        </p:nvSpPr>
        <p:spPr>
          <a:xfrm>
            <a:off x="1295400" y="2872829"/>
            <a:ext cx="459057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Marco de Restricción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1028700" y="3244304"/>
            <a:ext cx="46386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Para garantizar la entrega de un Producto Mínimo Viable (MVP) robusto dentro de los plazos establecidos, se definieron ciertas limitaciones técnicas y de infraestructura operativa.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1028700" y="3998416"/>
            <a:ext cx="46386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Estas exclusiones permiten concentrar el esfuerzo del desarrollo en la estabilidad del núcleo del sistema, posponiendo integraciones nativas complejas.</a:t>
            </a:r>
            <a:endParaRPr b="0" i="0" sz="14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5" name="Google Shape;245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8700" y="291569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24625" y="2891879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6"/>
          <p:cNvSpPr txBox="1"/>
          <p:nvPr/>
        </p:nvSpPr>
        <p:spPr>
          <a:xfrm>
            <a:off x="6791325" y="2891879"/>
            <a:ext cx="21812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 Aplicaciones Móviles Nativas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6791325" y="3110954"/>
            <a:ext cx="4400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incluye apps compiladas para Android o iOS; la accesibilidad móvil se garantiza mediante la versión Web.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9" name="Google Shape;249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24625" y="365953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6"/>
          <p:cNvSpPr txBox="1"/>
          <p:nvPr/>
        </p:nvSpPr>
        <p:spPr>
          <a:xfrm>
            <a:off x="6791325" y="3659534"/>
            <a:ext cx="2324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 Gestión Completa de Inventario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6791325" y="3878609"/>
            <a:ext cx="4400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se administra el inventario de materiales directamente, solo el consumo reportado para las reparaciones asociadas.</a:t>
            </a:r>
            <a:endParaRPr b="0" i="0" sz="14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2" name="Google Shape;252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24625" y="442719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6"/>
          <p:cNvSpPr txBox="1"/>
          <p:nvPr/>
        </p:nvSpPr>
        <p:spPr>
          <a:xfrm>
            <a:off x="6791325" y="4427190"/>
            <a:ext cx="2343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 Geolocalización en Tiempo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 txBox="1"/>
          <p:nvPr/>
        </p:nvSpPr>
        <p:spPr>
          <a:xfrm>
            <a:off x="6791325" y="4646265"/>
            <a:ext cx="4400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se incluye el rastreo activo por GPS del personal de mantención en el campus.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909887"/>
            <a:ext cx="33971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7275" y="2909887"/>
            <a:ext cx="339729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32700" y="2909887"/>
            <a:ext cx="339715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7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 txBox="1"/>
          <p:nvPr/>
        </p:nvSpPr>
        <p:spPr>
          <a:xfrm>
            <a:off x="1204912" y="1219200"/>
            <a:ext cx="1073634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Metodología de Trabajo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7" name="Google Shape;267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9775" y="571500"/>
            <a:ext cx="18002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7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10782300" y="6153150"/>
            <a:ext cx="6477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1" name="Google Shape;271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7"/>
          <p:cNvSpPr txBox="1"/>
          <p:nvPr/>
        </p:nvSpPr>
        <p:spPr>
          <a:xfrm>
            <a:off x="1247775" y="3148012"/>
            <a:ext cx="2806913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Control de Versiones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1000125" y="3500437"/>
            <a:ext cx="29208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Uso estricto de Git y GitHub mediante flujo estructurado: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 txBox="1"/>
          <p:nvPr/>
        </p:nvSpPr>
        <p:spPr>
          <a:xfrm>
            <a:off x="4921150" y="3148012"/>
            <a:ext cx="2767064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Trabajo Colaborativo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4635400" y="3500437"/>
            <a:ext cx="29211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División organizada y complementaria de responsabilidades: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 txBox="1"/>
          <p:nvPr/>
        </p:nvSpPr>
        <p:spPr>
          <a:xfrm>
            <a:off x="8499425" y="3148012"/>
            <a:ext cx="282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Metodología Ágil (kanban + Scrum)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"/>
          <p:cNvSpPr txBox="1"/>
          <p:nvPr/>
        </p:nvSpPr>
        <p:spPr>
          <a:xfrm>
            <a:off x="8270825" y="3500437"/>
            <a:ext cx="2920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Desarrollo bajo un enfoque iterativo incremental:</a:t>
            </a:r>
            <a:endParaRPr b="0" i="0" sz="14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8" name="Google Shape;278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0125" y="31908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7"/>
          <p:cNvSpPr txBox="1"/>
          <p:nvPr/>
        </p:nvSpPr>
        <p:spPr>
          <a:xfrm>
            <a:off x="1247775" y="3967162"/>
            <a:ext cx="2673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Rama main (producción) y dev (pruebas).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"/>
          <p:cNvSpPr txBox="1"/>
          <p:nvPr/>
        </p:nvSpPr>
        <p:spPr>
          <a:xfrm>
            <a:off x="1304925" y="4195762"/>
            <a:ext cx="2616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Commits descriptivos (feat, fix, refactor).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 txBox="1"/>
          <p:nvPr/>
        </p:nvSpPr>
        <p:spPr>
          <a:xfrm>
            <a:off x="1266825" y="4424362"/>
            <a:ext cx="2654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Pull requests con revisiones de código cruzadas.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2" name="Google Shape;282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35400" y="319087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7"/>
          <p:cNvSpPr txBox="1"/>
          <p:nvPr/>
        </p:nvSpPr>
        <p:spPr>
          <a:xfrm>
            <a:off x="4921150" y="3967162"/>
            <a:ext cx="2635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Separación modular de vistas, lógicas y datos.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4940200" y="4195762"/>
            <a:ext cx="2616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Comunicación asíncrona permanente vía Discord.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 txBox="1"/>
          <p:nvPr/>
        </p:nvSpPr>
        <p:spPr>
          <a:xfrm>
            <a:off x="4883050" y="4595812"/>
            <a:ext cx="2673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Reuniones de sincronización presenciales.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6" name="Google Shape;286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70825" y="319087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7"/>
          <p:cNvSpPr txBox="1"/>
          <p:nvPr/>
        </p:nvSpPr>
        <p:spPr>
          <a:xfrm>
            <a:off x="8537525" y="3781425"/>
            <a:ext cx="2654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Ciclos cortos de entrega de valor funcional.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8537525" y="4010025"/>
            <a:ext cx="2654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Pruebas continuas de aceptación en fases.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8537525" y="4238625"/>
            <a:ext cx="2654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Priorización en base a un backlog del MVP.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0" name="Google Shape;290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0125" y="39862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00125" y="421481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00125" y="444341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635400" y="3986212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635400" y="421481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635400" y="461486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270825" y="38004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270825" y="40290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270825" y="4257675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g3edd214199d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87012"/>
            <a:ext cx="12192000" cy="568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75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394894"/>
            <a:ext cx="3086100" cy="896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52950" y="4299644"/>
            <a:ext cx="3086100" cy="896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3400" y="4299644"/>
            <a:ext cx="3086100" cy="896987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8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Cronograma de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6" name="Google Shape;316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15562" y="571500"/>
            <a:ext cx="121443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8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8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0" name="Google Shape;320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8"/>
          <p:cNvSpPr txBox="1"/>
          <p:nvPr/>
        </p:nvSpPr>
        <p:spPr>
          <a:xfrm>
            <a:off x="952500" y="3785294"/>
            <a:ext cx="3086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Sprint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 txBox="1"/>
          <p:nvPr/>
        </p:nvSpPr>
        <p:spPr>
          <a:xfrm>
            <a:off x="952500" y="4051994"/>
            <a:ext cx="30861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SEMANAS 1-6 (44 HRS)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8"/>
          <p:cNvSpPr txBox="1"/>
          <p:nvPr/>
        </p:nvSpPr>
        <p:spPr>
          <a:xfrm>
            <a:off x="4552950" y="3785294"/>
            <a:ext cx="3086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Sprint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8"/>
          <p:cNvSpPr txBox="1"/>
          <p:nvPr/>
        </p:nvSpPr>
        <p:spPr>
          <a:xfrm>
            <a:off x="4552950" y="4051994"/>
            <a:ext cx="30861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SEMANAS 7-12 (42 HRS)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"/>
          <p:cNvSpPr txBox="1"/>
          <p:nvPr/>
        </p:nvSpPr>
        <p:spPr>
          <a:xfrm>
            <a:off x="8153400" y="3785294"/>
            <a:ext cx="3086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Sprint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8"/>
          <p:cNvSpPr txBox="1"/>
          <p:nvPr/>
        </p:nvSpPr>
        <p:spPr>
          <a:xfrm>
            <a:off x="8153400" y="4051994"/>
            <a:ext cx="30861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SEMANAS 13-18 (41 HRS)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8"/>
          <p:cNvSpPr txBox="1"/>
          <p:nvPr/>
        </p:nvSpPr>
        <p:spPr>
          <a:xfrm>
            <a:off x="1076325" y="4433000"/>
            <a:ext cx="176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Línea base del sistema: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8"/>
          <p:cNvSpPr txBox="1"/>
          <p:nvPr/>
        </p:nvSpPr>
        <p:spPr>
          <a:xfrm>
            <a:off x="1076325" y="4633021"/>
            <a:ext cx="2838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9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Configuración inicial del framework.</a:t>
            </a:r>
            <a:b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• Módulo de acceso y seguridad (Auth).</a:t>
            </a:r>
            <a:b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• Generación de tickets base y registro inicial.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"/>
          <p:cNvSpPr txBox="1"/>
          <p:nvPr/>
        </p:nvSpPr>
        <p:spPr>
          <a:xfrm>
            <a:off x="4676775" y="4433000"/>
            <a:ext cx="126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Núcleo operativo: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 txBox="1"/>
          <p:nvPr/>
        </p:nvSpPr>
        <p:spPr>
          <a:xfrm>
            <a:off x="4676775" y="4633019"/>
            <a:ext cx="2838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9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Flujo de asignación de mantenedores.</a:t>
            </a:r>
            <a:b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• Lógica de cambio de estados operativos.</a:t>
            </a:r>
            <a:b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• Creación de vistas de tickets e incidencias.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 txBox="1"/>
          <p:nvPr/>
        </p:nvSpPr>
        <p:spPr>
          <a:xfrm>
            <a:off x="8277225" y="4433000"/>
            <a:ext cx="19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Trazabilidad y Reportes: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 txBox="1"/>
          <p:nvPr/>
        </p:nvSpPr>
        <p:spPr>
          <a:xfrm>
            <a:off x="8277225" y="4633019"/>
            <a:ext cx="2838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9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Dashboards analíticos avanzados por rol.</a:t>
            </a:r>
            <a:b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• Registro histórico de cambios del sistema.</a:t>
            </a:r>
            <a:b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2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• Pruebas generales y despliegue del software.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1295400" y="3328094"/>
            <a:ext cx="96012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4" name="Google Shape;334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47900" y="3099494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848350" y="3099494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448800" y="3099494"/>
            <a:ext cx="49530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1" name="Google Shape;3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9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 txBox="1"/>
          <p:nvPr/>
        </p:nvSpPr>
        <p:spPr>
          <a:xfrm>
            <a:off x="1176337" y="1219200"/>
            <a:ext cx="107663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Arquitectura del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45" name="Google Shape;34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82112" y="571500"/>
            <a:ext cx="2147887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314450"/>
            <a:ext cx="3000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9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9"/>
          <p:cNvSpPr txBox="1"/>
          <p:nvPr/>
        </p:nvSpPr>
        <p:spPr>
          <a:xfrm>
            <a:off x="10772775" y="61531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49" name="Google Shape;34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9" title="Diagrama mvc.drawi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62992" y="1676400"/>
            <a:ext cx="7666019" cy="44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5" name="Google Shape;3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995612"/>
            <a:ext cx="34290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1500" y="2995612"/>
            <a:ext cx="34290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1000" y="2995612"/>
            <a:ext cx="342900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0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Estructura del Modelo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63" name="Google Shape;363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86987" y="571500"/>
            <a:ext cx="1243012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0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0"/>
          <p:cNvSpPr txBox="1"/>
          <p:nvPr/>
        </p:nvSpPr>
        <p:spPr>
          <a:xfrm>
            <a:off x="10734675" y="61531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67" name="Google Shape;367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0"/>
          <p:cNvSpPr txBox="1"/>
          <p:nvPr/>
        </p:nvSpPr>
        <p:spPr>
          <a:xfrm>
            <a:off x="1200150" y="3195637"/>
            <a:ext cx="27908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Ticket (Incidencias)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962025" y="3471862"/>
            <a:ext cx="302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 txBox="1"/>
          <p:nvPr/>
        </p:nvSpPr>
        <p:spPr>
          <a:xfrm>
            <a:off x="4838700" y="3195637"/>
            <a:ext cx="2771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4581525" y="3471862"/>
            <a:ext cx="302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 txBox="1"/>
          <p:nvPr/>
        </p:nvSpPr>
        <p:spPr>
          <a:xfrm>
            <a:off x="8458200" y="3195637"/>
            <a:ext cx="2771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Tablas Operativas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8201025" y="3471862"/>
            <a:ext cx="302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4" name="Google Shape;374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2025" y="3214687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0"/>
          <p:cNvSpPr txBox="1"/>
          <p:nvPr/>
        </p:nvSpPr>
        <p:spPr>
          <a:xfrm>
            <a:off x="962025" y="357663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 [INTEGER] </a:t>
            </a:r>
            <a:r>
              <a:rPr b="0" i="0" lang="en-US" sz="9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"/>
          <p:cNvSpPr txBox="1"/>
          <p:nvPr/>
        </p:nvSpPr>
        <p:spPr>
          <a:xfrm>
            <a:off x="962025" y="377666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titulo [VARCHAR]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0"/>
          <p:cNvSpPr txBox="1"/>
          <p:nvPr/>
        </p:nvSpPr>
        <p:spPr>
          <a:xfrm>
            <a:off x="962025" y="397668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descripcion [TEXT]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0"/>
          <p:cNvSpPr txBox="1"/>
          <p:nvPr/>
        </p:nvSpPr>
        <p:spPr>
          <a:xfrm>
            <a:off x="962025" y="417671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fecha_creacion [DATE]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0"/>
          <p:cNvSpPr txBox="1"/>
          <p:nvPr/>
        </p:nvSpPr>
        <p:spPr>
          <a:xfrm>
            <a:off x="962025" y="437673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estado_id [INTEGER]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0"/>
          <p:cNvSpPr txBox="1"/>
          <p:nvPr/>
        </p:nvSpPr>
        <p:spPr>
          <a:xfrm>
            <a:off x="962025" y="457676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prioridad_id [INTEGER]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81" name="Google Shape;381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81525" y="3214687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0"/>
          <p:cNvSpPr txBox="1"/>
          <p:nvPr/>
        </p:nvSpPr>
        <p:spPr>
          <a:xfrm>
            <a:off x="4581525" y="357663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 [INTEGER] </a:t>
            </a:r>
            <a:r>
              <a:rPr b="0" i="0" lang="en-US" sz="9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0"/>
          <p:cNvSpPr txBox="1"/>
          <p:nvPr/>
        </p:nvSpPr>
        <p:spPr>
          <a:xfrm>
            <a:off x="4581525" y="377666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auth0_id [VARCHAR]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 txBox="1"/>
          <p:nvPr/>
        </p:nvSpPr>
        <p:spPr>
          <a:xfrm>
            <a:off x="4581525" y="397668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nombre_completo [VARCHAR]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0"/>
          <p:cNvSpPr txBox="1"/>
          <p:nvPr/>
        </p:nvSpPr>
        <p:spPr>
          <a:xfrm>
            <a:off x="4581525" y="417671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correo [VARCHAR]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0"/>
          <p:cNvSpPr txBox="1"/>
          <p:nvPr/>
        </p:nvSpPr>
        <p:spPr>
          <a:xfrm>
            <a:off x="4581525" y="4376737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rol_id [INTEGER]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0"/>
          <p:cNvSpPr txBox="1"/>
          <p:nvPr/>
        </p:nvSpPr>
        <p:spPr>
          <a:xfrm>
            <a:off x="4581525" y="4576762"/>
            <a:ext cx="30289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sede_id [INTEGER]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88" name="Google Shape;388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01025" y="3214687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0"/>
          <p:cNvSpPr/>
          <p:nvPr/>
        </p:nvSpPr>
        <p:spPr>
          <a:xfrm>
            <a:off x="8201025" y="3576637"/>
            <a:ext cx="3028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8201025" y="3910012"/>
            <a:ext cx="30289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8201025" y="3910012"/>
            <a:ext cx="30289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 txBox="1"/>
          <p:nvPr/>
        </p:nvSpPr>
        <p:spPr>
          <a:xfrm>
            <a:off x="8201025" y="3576637"/>
            <a:ext cx="21812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Registro_Mantencion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Asigna mantenedores a tickets específicos.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0"/>
          <p:cNvSpPr txBox="1"/>
          <p:nvPr/>
        </p:nvSpPr>
        <p:spPr>
          <a:xfrm>
            <a:off x="8201025" y="4033837"/>
            <a:ext cx="2362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Validacion_Guardia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Controla el filtro del guardia antes de proceder.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10" title="Relational_1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g3edd214199d_1_1" title="Relational_1.png"/>
          <p:cNvPicPr preferRelativeResize="0"/>
          <p:nvPr/>
        </p:nvPicPr>
        <p:blipFill rotWithShape="1">
          <a:blip r:embed="rId3">
            <a:alphaModFix/>
          </a:blip>
          <a:srcRect b="27375" l="0" r="55277" t="12340"/>
          <a:stretch/>
        </p:blipFill>
        <p:spPr>
          <a:xfrm>
            <a:off x="0" y="74253"/>
            <a:ext cx="6454026" cy="6775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g3edd214199d_1_1" title="Relational_1.png"/>
          <p:cNvPicPr preferRelativeResize="0"/>
          <p:nvPr/>
        </p:nvPicPr>
        <p:blipFill rotWithShape="1">
          <a:blip r:embed="rId3">
            <a:alphaModFix/>
          </a:blip>
          <a:srcRect b="0" l="955" r="55051" t="72407"/>
          <a:stretch/>
        </p:blipFill>
        <p:spPr>
          <a:xfrm>
            <a:off x="6454025" y="1987630"/>
            <a:ext cx="5737974" cy="2802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5" name="Google Shape;4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6000" y="2567575"/>
            <a:ext cx="4635550" cy="1519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66000" y="4223050"/>
            <a:ext cx="4635550" cy="151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8975" y="2567575"/>
            <a:ext cx="4635550" cy="15197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1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 txBox="1"/>
          <p:nvPr/>
        </p:nvSpPr>
        <p:spPr>
          <a:xfrm>
            <a:off x="1204912" y="1219200"/>
            <a:ext cx="1073634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Tecnologías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3" name="Google Shape;413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01287" y="571500"/>
            <a:ext cx="1128712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314450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1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1"/>
          <p:cNvSpPr txBox="1"/>
          <p:nvPr/>
        </p:nvSpPr>
        <p:spPr>
          <a:xfrm>
            <a:off x="10763250" y="6153150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7" name="Google Shape;417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52525" y="275490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1"/>
          <p:cNvSpPr txBox="1"/>
          <p:nvPr/>
        </p:nvSpPr>
        <p:spPr>
          <a:xfrm>
            <a:off x="174925" y="3561175"/>
            <a:ext cx="292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Interfaz de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1"/>
          <p:cNvSpPr txBox="1"/>
          <p:nvPr/>
        </p:nvSpPr>
        <p:spPr>
          <a:xfrm>
            <a:off x="81700" y="3795925"/>
            <a:ext cx="292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6A34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"/>
          <p:cNvSpPr txBox="1"/>
          <p:nvPr/>
        </p:nvSpPr>
        <p:spPr>
          <a:xfrm>
            <a:off x="3105200" y="2802875"/>
            <a:ext cx="20154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Estructura moderna en HTML5, CSS3, JavaScript puro e integración nativa de plantillas mediante Django Templates.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1000125" y="4324350"/>
            <a:ext cx="29209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3" name="Google Shape;423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80064" y="4358763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1"/>
          <p:cNvSpPr txBox="1"/>
          <p:nvPr/>
        </p:nvSpPr>
        <p:spPr>
          <a:xfrm>
            <a:off x="5665998" y="5068400"/>
            <a:ext cx="250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Lógica y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1"/>
          <p:cNvSpPr txBox="1"/>
          <p:nvPr/>
        </p:nvSpPr>
        <p:spPr>
          <a:xfrm>
            <a:off x="5583061" y="5296075"/>
            <a:ext cx="2508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BACKEND &amp; 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1"/>
          <p:cNvSpPr txBox="1"/>
          <p:nvPr/>
        </p:nvSpPr>
        <p:spPr>
          <a:xfrm>
            <a:off x="8161021" y="4417513"/>
            <a:ext cx="1876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Desarrollado en Python con el framework web Django, almacenamiento local SQLite.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4635400" y="4324350"/>
            <a:ext cx="292104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8" name="Google Shape;428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80150" y="2754888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1"/>
          <p:cNvSpPr txBox="1"/>
          <p:nvPr/>
        </p:nvSpPr>
        <p:spPr>
          <a:xfrm>
            <a:off x="5665800" y="3652375"/>
            <a:ext cx="250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 de Entregas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1"/>
          <p:cNvSpPr txBox="1"/>
          <p:nvPr/>
        </p:nvSpPr>
        <p:spPr>
          <a:xfrm>
            <a:off x="5583050" y="3873300"/>
            <a:ext cx="2508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INFRAESTRUCTURA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1"/>
          <p:cNvSpPr txBox="1"/>
          <p:nvPr/>
        </p:nvSpPr>
        <p:spPr>
          <a:xfrm>
            <a:off x="8012525" y="2779750"/>
            <a:ext cx="21735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Control total del código fuente mediante Git, alojado en repositorios protegidos de GitHub con políticas de integración.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8270825" y="4324350"/>
            <a:ext cx="29209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3" name="Google Shape;433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94463" y="2954913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253977" y="2856350"/>
            <a:ext cx="463846" cy="46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484912" y="4463541"/>
            <a:ext cx="457199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6" name="Google Shape;43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8900" y="4189700"/>
            <a:ext cx="4635550" cy="1519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7" name="Google Shape;437;p1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152525" y="430880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1"/>
          <p:cNvSpPr txBox="1"/>
          <p:nvPr/>
        </p:nvSpPr>
        <p:spPr>
          <a:xfrm>
            <a:off x="174925" y="5115075"/>
            <a:ext cx="292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Validación Externa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1"/>
          <p:cNvSpPr txBox="1"/>
          <p:nvPr/>
        </p:nvSpPr>
        <p:spPr>
          <a:xfrm>
            <a:off x="81700" y="5363025"/>
            <a:ext cx="292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FD9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VALIDACIÓN</a:t>
            </a:r>
            <a:endParaRPr b="0" i="0" sz="900" u="none" cap="none" strike="noStrike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1"/>
          <p:cNvSpPr txBox="1"/>
          <p:nvPr/>
        </p:nvSpPr>
        <p:spPr>
          <a:xfrm>
            <a:off x="3105200" y="4356775"/>
            <a:ext cx="20154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Servicio externo Auth0 con protocolo OAuth2 que valida credenciales, gestiona sesiones y controla permisos por rol de usuario.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1" name="Google Shape;441;p1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257300" y="44067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6" name="Google Shape;44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7" name="Google Shape;44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8" name="Google Shape;44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634704"/>
            <a:ext cx="5143500" cy="264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9" name="Google Shape;44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634704"/>
            <a:ext cx="5143500" cy="2645866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2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 txBox="1"/>
          <p:nvPr/>
        </p:nvSpPr>
        <p:spPr>
          <a:xfrm>
            <a:off x="1109662" y="1219200"/>
            <a:ext cx="10836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Resultados Obtenidos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53" name="Google Shape;453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2250" y="571500"/>
            <a:ext cx="10477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4" name="Google Shape;454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314450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2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2"/>
          <p:cNvSpPr txBox="1"/>
          <p:nvPr/>
        </p:nvSpPr>
        <p:spPr>
          <a:xfrm>
            <a:off x="10734675" y="61531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57" name="Google Shape;457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8" name="Google Shape;458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125" y="2891879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12"/>
          <p:cNvSpPr txBox="1"/>
          <p:nvPr/>
        </p:nvSpPr>
        <p:spPr>
          <a:xfrm>
            <a:off x="1266825" y="2891879"/>
            <a:ext cx="1952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Registro Operativo de Tickets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2"/>
          <p:cNvSpPr txBox="1"/>
          <p:nvPr/>
        </p:nvSpPr>
        <p:spPr>
          <a:xfrm>
            <a:off x="1266825" y="3110954"/>
            <a:ext cx="4400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Sistema de creación de incidencias estable, listo para operación de usuarios.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61" name="Google Shape;461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125" y="365953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2"/>
          <p:cNvSpPr txBox="1"/>
          <p:nvPr/>
        </p:nvSpPr>
        <p:spPr>
          <a:xfrm>
            <a:off x="1266825" y="3659534"/>
            <a:ext cx="2476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Estructuración de Roles Funcionando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2"/>
          <p:cNvSpPr txBox="1"/>
          <p:nvPr/>
        </p:nvSpPr>
        <p:spPr>
          <a:xfrm>
            <a:off x="1266825" y="3878609"/>
            <a:ext cx="4400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Autenticación correcta y pantallas personalizadas según cada tipo de perfil de usuario.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64" name="Google Shape;464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125" y="442719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2"/>
          <p:cNvSpPr txBox="1"/>
          <p:nvPr/>
        </p:nvSpPr>
        <p:spPr>
          <a:xfrm>
            <a:off x="1266825" y="4427190"/>
            <a:ext cx="2133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Módulo de Asignación y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2"/>
          <p:cNvSpPr txBox="1"/>
          <p:nvPr/>
        </p:nvSpPr>
        <p:spPr>
          <a:xfrm>
            <a:off x="1266825" y="4646265"/>
            <a:ext cx="4400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Asignación de mantenedores con auditoría e historial automático de cambios.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67" name="Google Shape;467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2891879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2"/>
          <p:cNvSpPr txBox="1"/>
          <p:nvPr/>
        </p:nvSpPr>
        <p:spPr>
          <a:xfrm>
            <a:off x="6791325" y="2891879"/>
            <a:ext cx="19716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Trazabilidad y Log de Estados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2"/>
          <p:cNvSpPr txBox="1"/>
          <p:nvPr/>
        </p:nvSpPr>
        <p:spPr>
          <a:xfrm>
            <a:off x="6791325" y="3110954"/>
            <a:ext cx="4400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Flujo de vida del ticket controlado con marcas de tiempo y auditoría de eventos.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70" name="Google Shape;470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365953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2"/>
          <p:cNvSpPr txBox="1"/>
          <p:nvPr/>
        </p:nvSpPr>
        <p:spPr>
          <a:xfrm>
            <a:off x="6791325" y="3659534"/>
            <a:ext cx="17716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Dashboard en Tiempo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2"/>
          <p:cNvSpPr txBox="1"/>
          <p:nvPr/>
        </p:nvSpPr>
        <p:spPr>
          <a:xfrm>
            <a:off x="6791325" y="3878609"/>
            <a:ext cx="4400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Métricas e indicadores clave para toma de decisiones y control de eficiencia.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73" name="Google Shape;473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442719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12"/>
          <p:cNvSpPr txBox="1"/>
          <p:nvPr/>
        </p:nvSpPr>
        <p:spPr>
          <a:xfrm>
            <a:off x="6791325" y="4427190"/>
            <a:ext cx="19907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Modelo de Datos Consolidado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2"/>
          <p:cNvSpPr txBox="1"/>
          <p:nvPr/>
        </p:nvSpPr>
        <p:spPr>
          <a:xfrm>
            <a:off x="6791325" y="4646265"/>
            <a:ext cx="4067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Base relacional optimizada con persistencia íntegra lista para escalar.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0" name="Google Shape;4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2" name="Google Shape;48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250" y="1968114"/>
            <a:ext cx="5143500" cy="1784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3" name="Google Shape;48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216014"/>
            <a:ext cx="5143500" cy="17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3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 txBox="1"/>
          <p:nvPr/>
        </p:nvSpPr>
        <p:spPr>
          <a:xfrm>
            <a:off x="1138237" y="1219200"/>
            <a:ext cx="10806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Obstáculos Presentados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87" name="Google Shape;487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39325" y="571500"/>
            <a:ext cx="15906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8" name="Google Shape;488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314450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3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3"/>
          <p:cNvSpPr txBox="1"/>
          <p:nvPr/>
        </p:nvSpPr>
        <p:spPr>
          <a:xfrm>
            <a:off x="10734675" y="61531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91" name="Google Shape;491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3"/>
          <p:cNvSpPr txBox="1"/>
          <p:nvPr/>
        </p:nvSpPr>
        <p:spPr>
          <a:xfrm>
            <a:off x="1309650" y="2206239"/>
            <a:ext cx="459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C241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Versiones de commit no compatibles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3"/>
          <p:cNvSpPr txBox="1"/>
          <p:nvPr/>
        </p:nvSpPr>
        <p:spPr>
          <a:xfrm>
            <a:off x="1042950" y="2577737"/>
            <a:ext cx="46386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i="1" lang="en-US" sz="14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“Se originaron bugs y problemas de versionado en entornos de trabajo al momento de desplegar el servidor.”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3"/>
          <p:cNvSpPr txBox="1"/>
          <p:nvPr/>
        </p:nvSpPr>
        <p:spPr>
          <a:xfrm>
            <a:off x="6819900" y="4454139"/>
            <a:ext cx="459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241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Coordinación del Equipo de Trabajo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3"/>
          <p:cNvSpPr txBox="1"/>
          <p:nvPr/>
        </p:nvSpPr>
        <p:spPr>
          <a:xfrm>
            <a:off x="6553200" y="4825614"/>
            <a:ext cx="46386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4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"Los horarios laborales y personales dificultaron la coordinación de reuniones presenciales, retrasando algunas etapas críticas."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96" name="Google Shape;496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2949" y="2224464"/>
            <a:ext cx="16242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7" name="Google Shape;497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53200" y="449700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8" name="Google Shape;49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250" y="4216014"/>
            <a:ext cx="5143500" cy="17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3"/>
          <p:cNvSpPr txBox="1"/>
          <p:nvPr/>
        </p:nvSpPr>
        <p:spPr>
          <a:xfrm>
            <a:off x="1309650" y="4454139"/>
            <a:ext cx="459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241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Alcance de Business Intelligence (BI)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3"/>
          <p:cNvSpPr txBox="1"/>
          <p:nvPr/>
        </p:nvSpPr>
        <p:spPr>
          <a:xfrm>
            <a:off x="1042950" y="4825637"/>
            <a:ext cx="46386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4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"Inicialmente no teníamos claro cómo integrar inteligencia de negocios sin convertir el sistema en un simple CRUD convencional."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01" name="Google Shape;50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199" y="4519564"/>
            <a:ext cx="16242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2" name="Google Shape;50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87164"/>
            <a:ext cx="5143500" cy="17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3"/>
          <p:cNvSpPr txBox="1"/>
          <p:nvPr/>
        </p:nvSpPr>
        <p:spPr>
          <a:xfrm>
            <a:off x="6819900" y="2225289"/>
            <a:ext cx="459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C241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Reestructuración de funcionalidades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3"/>
          <p:cNvSpPr txBox="1"/>
          <p:nvPr/>
        </p:nvSpPr>
        <p:spPr>
          <a:xfrm>
            <a:off x="6553200" y="2596787"/>
            <a:ext cx="46386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4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i="1" lang="en-US" sz="14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Cambio o eliminación de opciones disponibles para los diferentes usuarios y roles para ajustarnos a las nuevas necesidades.</a:t>
            </a:r>
            <a:r>
              <a:rPr b="0" i="1" lang="en-US" sz="14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05" name="Google Shape;505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53199" y="2243514"/>
            <a:ext cx="162426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0" name="Google Shape;5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1" name="Google Shape;51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2" name="Google Shape;51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81525" y="4533900"/>
            <a:ext cx="30289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14"/>
          <p:cNvSpPr txBox="1"/>
          <p:nvPr/>
        </p:nvSpPr>
        <p:spPr>
          <a:xfrm>
            <a:off x="3143250" y="571500"/>
            <a:ext cx="828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 — Campus Seguro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15" name="Google Shape;51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82225" y="571500"/>
            <a:ext cx="12477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4"/>
          <p:cNvSpPr txBox="1"/>
          <p:nvPr/>
        </p:nvSpPr>
        <p:spPr>
          <a:xfrm>
            <a:off x="762000" y="6153150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4"/>
          <p:cNvSpPr txBox="1"/>
          <p:nvPr/>
        </p:nvSpPr>
        <p:spPr>
          <a:xfrm>
            <a:off x="10734675" y="61531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Diapositiva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18" name="Google Shape;51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4"/>
          <p:cNvSpPr txBox="1"/>
          <p:nvPr/>
        </p:nvSpPr>
        <p:spPr>
          <a:xfrm>
            <a:off x="3095625" y="3086100"/>
            <a:ext cx="6000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Demostración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4"/>
          <p:cNvSpPr txBox="1"/>
          <p:nvPr/>
        </p:nvSpPr>
        <p:spPr>
          <a:xfrm>
            <a:off x="3238500" y="3800475"/>
            <a:ext cx="571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Exposición en vivo del sistema, flujos de creación, validación de guardias y asignación de mantenedores.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21" name="Google Shape;52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53100" y="2171700"/>
            <a:ext cx="6858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6" name="Google Shape;5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7" name="Google Shape;52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00750"/>
            <a:ext cx="10668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8" name="Google Shape;5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9125" y="4367212"/>
            <a:ext cx="33337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5"/>
          <p:cNvSpPr txBox="1"/>
          <p:nvPr/>
        </p:nvSpPr>
        <p:spPr>
          <a:xfrm>
            <a:off x="1685925" y="571500"/>
            <a:ext cx="97440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5"/>
          <p:cNvSpPr/>
          <p:nvPr/>
        </p:nvSpPr>
        <p:spPr>
          <a:xfrm>
            <a:off x="762000" y="9239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31" name="Google Shape;53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44200" y="571500"/>
            <a:ext cx="6858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5"/>
          <p:cNvSpPr txBox="1"/>
          <p:nvPr/>
        </p:nvSpPr>
        <p:spPr>
          <a:xfrm>
            <a:off x="762000" y="61531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Escuela de Informática y Telecomunicaciones — Duoc 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5"/>
          <p:cNvSpPr txBox="1"/>
          <p:nvPr/>
        </p:nvSpPr>
        <p:spPr>
          <a:xfrm>
            <a:off x="10315575" y="6153150"/>
            <a:ext cx="11144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Fin de la Presentación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34" name="Google Shape;53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09600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15"/>
          <p:cNvSpPr txBox="1"/>
          <p:nvPr/>
        </p:nvSpPr>
        <p:spPr>
          <a:xfrm>
            <a:off x="2980610" y="2957512"/>
            <a:ext cx="62307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¡Gracias por su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5"/>
          <p:cNvSpPr txBox="1"/>
          <p:nvPr/>
        </p:nvSpPr>
        <p:spPr>
          <a:xfrm>
            <a:off x="3128962" y="3786187"/>
            <a:ext cx="59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Proyecto "Campus Seguro" — </a:t>
            </a: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Presentacion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 Integración de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37" name="Google Shape;53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22431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15"/>
          <p:cNvSpPr txBox="1"/>
          <p:nvPr/>
        </p:nvSpPr>
        <p:spPr>
          <a:xfrm>
            <a:off x="4724400" y="4519612"/>
            <a:ext cx="2743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Escuela de Informática y Telecomunicaciones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5"/>
          <p:cNvSpPr txBox="1"/>
          <p:nvPr/>
        </p:nvSpPr>
        <p:spPr>
          <a:xfrm>
            <a:off x="4724400" y="4719637"/>
            <a:ext cx="2743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Duoc UC — Santiago de Chile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