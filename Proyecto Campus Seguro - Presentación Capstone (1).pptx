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Poppins SemiBold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15zvxy9qVM3TH9w+ll5/vPcvM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italic.fntdata"/><Relationship Id="rId41" Type="http://schemas.openxmlformats.org/officeDocument/2006/relationships/font" Target="fonts/PoppinsSemiBold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6.xml"/><Relationship Id="rId43" Type="http://schemas.openxmlformats.org/officeDocument/2006/relationships/font" Target="fonts/PoppinsSemiBold-boldItalic.fntdata"/><Relationship Id="rId24" Type="http://schemas.openxmlformats.org/officeDocument/2006/relationships/font" Target="fonts/InterSemiBold-regular.fntdata"/><Relationship Id="rId46" Type="http://schemas.openxmlformats.org/officeDocument/2006/relationships/font" Target="fonts/InterMedium-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48" Type="http://customschemas.google.com/relationships/presentationmetadata" Target="metadata"/><Relationship Id="rId25" Type="http://schemas.openxmlformats.org/officeDocument/2006/relationships/font" Target="fonts/InterSemiBold-bold.fntdata"/><Relationship Id="rId47" Type="http://schemas.openxmlformats.org/officeDocument/2006/relationships/font" Target="fonts/InterMedium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Poppins-bold.fntdata"/><Relationship Id="rId14" Type="http://schemas.openxmlformats.org/officeDocument/2006/relationships/slide" Target="slides/slide9.xml"/><Relationship Id="rId36" Type="http://schemas.openxmlformats.org/officeDocument/2006/relationships/font" Target="fonts/Poppins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dd214199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dd214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dd214199d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dd21419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26f25a4d7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26f25a4d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3.png"/><Relationship Id="rId13" Type="http://schemas.openxmlformats.org/officeDocument/2006/relationships/image" Target="../media/image16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6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60.png"/><Relationship Id="rId13" Type="http://schemas.openxmlformats.org/officeDocument/2006/relationships/image" Target="../media/image3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image" Target="../media/image48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45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3.png"/><Relationship Id="rId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11" Type="http://schemas.openxmlformats.org/officeDocument/2006/relationships/image" Target="../media/image44.png"/><Relationship Id="rId22" Type="http://schemas.openxmlformats.org/officeDocument/2006/relationships/image" Target="../media/image97.png"/><Relationship Id="rId10" Type="http://schemas.openxmlformats.org/officeDocument/2006/relationships/image" Target="../media/image13.png"/><Relationship Id="rId21" Type="http://schemas.openxmlformats.org/officeDocument/2006/relationships/image" Target="../media/image54.png"/><Relationship Id="rId13" Type="http://schemas.openxmlformats.org/officeDocument/2006/relationships/image" Target="../media/image46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65.png"/><Relationship Id="rId15" Type="http://schemas.openxmlformats.org/officeDocument/2006/relationships/image" Target="../media/image52.png"/><Relationship Id="rId14" Type="http://schemas.openxmlformats.org/officeDocument/2006/relationships/image" Target="../media/image47.png"/><Relationship Id="rId17" Type="http://schemas.openxmlformats.org/officeDocument/2006/relationships/image" Target="../media/image49.png"/><Relationship Id="rId16" Type="http://schemas.openxmlformats.org/officeDocument/2006/relationships/image" Target="../media/image50.png"/><Relationship Id="rId5" Type="http://schemas.openxmlformats.org/officeDocument/2006/relationships/image" Target="../media/image43.png"/><Relationship Id="rId19" Type="http://schemas.openxmlformats.org/officeDocument/2006/relationships/image" Target="../media/image67.png"/><Relationship Id="rId6" Type="http://schemas.openxmlformats.org/officeDocument/2006/relationships/image" Target="../media/image66.png"/><Relationship Id="rId18" Type="http://schemas.openxmlformats.org/officeDocument/2006/relationships/image" Target="../media/image51.png"/><Relationship Id="rId7" Type="http://schemas.openxmlformats.org/officeDocument/2006/relationships/image" Target="../media/image39.png"/><Relationship Id="rId8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13.png"/><Relationship Id="rId13" Type="http://schemas.openxmlformats.org/officeDocument/2006/relationships/image" Target="../media/image57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image107.png"/><Relationship Id="rId6" Type="http://schemas.openxmlformats.org/officeDocument/2006/relationships/image" Target="../media/image13.png"/><Relationship Id="rId7" Type="http://schemas.openxmlformats.org/officeDocument/2006/relationships/image" Target="../media/image10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13.png"/><Relationship Id="rId13" Type="http://schemas.openxmlformats.org/officeDocument/2006/relationships/image" Target="../media/image77.png"/><Relationship Id="rId1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2.png"/><Relationship Id="rId14" Type="http://schemas.openxmlformats.org/officeDocument/2006/relationships/image" Target="../media/image79.png"/><Relationship Id="rId5" Type="http://schemas.openxmlformats.org/officeDocument/2006/relationships/image" Target="../media/image63.png"/><Relationship Id="rId6" Type="http://schemas.openxmlformats.org/officeDocument/2006/relationships/image" Target="../media/image74.png"/><Relationship Id="rId7" Type="http://schemas.openxmlformats.org/officeDocument/2006/relationships/image" Target="../media/image69.png"/><Relationship Id="rId8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13.png"/><Relationship Id="rId13" Type="http://schemas.openxmlformats.org/officeDocument/2006/relationships/image" Target="../media/image82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6.png"/><Relationship Id="rId15" Type="http://schemas.openxmlformats.org/officeDocument/2006/relationships/image" Target="../media/image87.png"/><Relationship Id="rId14" Type="http://schemas.openxmlformats.org/officeDocument/2006/relationships/image" Target="../media/image96.png"/><Relationship Id="rId17" Type="http://schemas.openxmlformats.org/officeDocument/2006/relationships/image" Target="../media/image85.png"/><Relationship Id="rId16" Type="http://schemas.openxmlformats.org/officeDocument/2006/relationships/image" Target="../media/image91.png"/><Relationship Id="rId5" Type="http://schemas.openxmlformats.org/officeDocument/2006/relationships/image" Target="../media/image71.png"/><Relationship Id="rId6" Type="http://schemas.openxmlformats.org/officeDocument/2006/relationships/image" Target="../media/image95.png"/><Relationship Id="rId18" Type="http://schemas.openxmlformats.org/officeDocument/2006/relationships/image" Target="../media/image108.png"/><Relationship Id="rId7" Type="http://schemas.openxmlformats.org/officeDocument/2006/relationships/image" Target="../media/image76.png"/><Relationship Id="rId8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image" Target="../media/image90.png"/><Relationship Id="rId6" Type="http://schemas.openxmlformats.org/officeDocument/2006/relationships/image" Target="../media/image37.png"/><Relationship Id="rId7" Type="http://schemas.openxmlformats.org/officeDocument/2006/relationships/image" Target="../media/image106.png"/><Relationship Id="rId8" Type="http://schemas.openxmlformats.org/officeDocument/2006/relationships/image" Target="../media/image8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image" Target="../media/image93.png"/><Relationship Id="rId6" Type="http://schemas.openxmlformats.org/officeDocument/2006/relationships/image" Target="../media/image102.png"/><Relationship Id="rId7" Type="http://schemas.openxmlformats.org/officeDocument/2006/relationships/image" Target="../media/image92.png"/><Relationship Id="rId8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5.png"/><Relationship Id="rId6" Type="http://schemas.openxmlformats.org/officeDocument/2006/relationships/image" Target="../media/image13.png"/><Relationship Id="rId7" Type="http://schemas.openxmlformats.org/officeDocument/2006/relationships/image" Target="../media/image10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03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4262883"/>
            <a:ext cx="5715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1187" y="571500"/>
            <a:ext cx="19288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3300" y="61531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263020" y="2261341"/>
            <a:ext cx="766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445543" y="2995658"/>
            <a:ext cx="730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Centralizado de Gestión y Control de Incidencias de Infraestructura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45550" y="4510533"/>
            <a:ext cx="1805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Estudiantes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oisés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Muñoz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gnacio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Palma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ordan 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García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5091825" y="4510525"/>
            <a:ext cx="1805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lang="en-US" sz="14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Profesores</a:t>
            </a: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Mabel Herrera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4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Juan Pablo Mellado</a:t>
            </a:r>
            <a:endParaRPr sz="14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910814" y="4510533"/>
            <a:ext cx="2018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Escuela:</a:t>
            </a: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47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Informática y Telecomunicaciones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26275"/>
            <a:ext cx="3397150" cy="398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962150"/>
            <a:ext cx="3397300" cy="394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973238"/>
            <a:ext cx="3397150" cy="393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72662" y="571500"/>
            <a:ext cx="15573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4" name="Google Shape;1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272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0001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Moisés Muñoz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0001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MANAGER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1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Liderazgo de desarrollo frontend, backend, coordinación general y distribución de arquitectura de sistemas.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0001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2489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635388" y="2949006"/>
            <a:ext cx="292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Ignacio Palma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635413" y="3290368"/>
            <a:ext cx="292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ENCARGADO DE DOCUMENTACIÓN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635413" y="3690418"/>
            <a:ext cx="29211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Redacción de especificaciones funcionales, desarrollo de módulos frontend/backend y estructuración técnica.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635413" y="3576118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97913" y="21949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8270813" y="2949006"/>
            <a:ext cx="292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Jordan García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270838" y="3290368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ANALISTA DE VALIDACIÓN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70838" y="3690418"/>
            <a:ext cx="29208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Garantía de calidad de software (QA), validación funcional del flujo del sistema y soporte transversal de desarrollo.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270838" y="3576118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41525" y="239501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43464" y="2395019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31276" y="2395019"/>
            <a:ext cx="2000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369425"/>
            <a:ext cx="5143500" cy="52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138237" y="1000125"/>
            <a:ext cx="108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4" name="Google Shape;14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6075" y="571500"/>
            <a:ext cx="923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095375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762000" y="6153150"/>
            <a:ext cx="14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0772775" y="6153150"/>
            <a:ext cx="6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8" name="Google Shape;14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1250463" y="1655604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Dolor / Problema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64575" y="2096402"/>
            <a:ext cx="46386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En el campus, los estudiantes y personal no cuentan con un sistema eficiente para reportar, mientra que por otro lado el personal interno del campus no posee un sistema de flujo limpio que ayude a organizar de manera 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eficaz</a:t>
            </a: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las labores de mantenimiento.</a:t>
            </a:r>
            <a:endParaRPr sz="15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795488" y="1473979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65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Propuesta de Solución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500000" y="1688292"/>
            <a:ext cx="4638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Plataforma web que centraliza el reporte, inspección y reparación en un único ticket con flujo de estados definido.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763" y="169846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1055025" y="4365458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generados de forma manual.</a:t>
            </a:r>
            <a:endParaRPr sz="15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055025" y="4738133"/>
            <a:ext cx="44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 histórico inexistente o muy débil.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055025" y="5110808"/>
            <a:ext cx="4410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Baja comunicación entre usuarios, guardias y técnicos de mantención.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8788" y="151684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6614300" y="38209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claro del ticket con registro de evidencia multimedia, materiales utilizados, sesiones de trabajo.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6614300" y="4922675"/>
            <a:ext cx="48108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completa en la asignación de mantenedores.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614300" y="5666475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Panel de BI para que el gestor visualice riesgos, carga de trabajo, historial por ubicación y rendimiento del equipo en tiempo re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1" name="Google Shape;16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38450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475718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6425" y="512985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38204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493435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567112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6614300" y="2722363"/>
            <a:ext cx="48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Canal de comunicación entre usuario, gestor, guardia y técnico a través del ciclo de vida del ticket.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8" name="Google Shape;16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66650" y="2776808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68675"/>
            <a:ext cx="10668000" cy="1987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7275" y="3886801"/>
            <a:ext cx="3397300" cy="19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2700" y="3886801"/>
            <a:ext cx="3397150" cy="198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2" name="Google Shape;1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10825" y="571500"/>
            <a:ext cx="10191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6" name="Google Shape;18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1000050" y="1872532"/>
            <a:ext cx="10191900" cy="16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6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 General:</a:t>
            </a:r>
            <a:r>
              <a:rPr b="0" i="0" lang="en-US" sz="16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5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e implementar una plataforma web centralizada que digitalice y estructure el proceso de gestión de incidencias de infraestructura en el campus, articulando la comunicación entre usuarios, guardias y técnicos de mantención a través de un flujo de tickets con estados, evidencia multimedia, registro de materiales e historial de intervenciones, proporcionando al gestor visibilidad en tiempo real mediante dashboards de análisis para la toma de decisiones operativas.</a:t>
            </a:r>
            <a:r>
              <a:rPr lang="en-US" sz="1550">
                <a:solidFill>
                  <a:schemeClr val="dk1"/>
                </a:solidFill>
              </a:rPr>
              <a:t> </a:t>
            </a:r>
            <a:endParaRPr sz="15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0001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0001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Tiempos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0001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Reducción proyectada en los tiempos de respuesta y solución de incidencias.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4635400" y="4124920"/>
            <a:ext cx="29210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635400" y="4734520"/>
            <a:ext cx="292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Total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635400" y="4991695"/>
            <a:ext cx="2921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exacto sobre el ciclo de vida de los reportes generados.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2708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270825" y="4734520"/>
            <a:ext cx="2920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Eficiencia Operativa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270825" y="4991695"/>
            <a:ext cx="2920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Mejora en la efectividad de asignación del equipo de mantenimiento.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19100"/>
            <a:ext cx="5143500" cy="418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1266750" y="2038757"/>
            <a:ext cx="183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Web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1266825" y="2324007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Interfaz accesible desde navegadores modernos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computadoras de escritorio</a:t>
            </a: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6" name="Google Shape;21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050" y="33478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1266750" y="33478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Usuarios Basada en Roles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266825" y="3662162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estructurada con 4 niveles de acceso y permisos: Usuario Final, Guardia de Seguridad, Mantenedor y Administrador.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9" name="Google Shape;21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20387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6791250" y="2038750"/>
            <a:ext cx="423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Flujo Completo de Vida del Ticket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791325" y="2277257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Estados administrables que van desde: Creado → Enviado → Validado → En Mantenimiento → Reparado → Cerrado.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550" y="33862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 txBox="1"/>
          <p:nvPr/>
        </p:nvSpPr>
        <p:spPr>
          <a:xfrm>
            <a:off x="6791250" y="3386250"/>
            <a:ext cx="3981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5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de Evidencia y Recursos de Materiales Utilizados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791325" y="4137962"/>
            <a:ext cx="44007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operativa que permite registrar y asociar materiales con evidencia fotográfica, sesiones de trabajo e historial de intervenciones en cada sesión de mantenimiento.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6575" y="0"/>
            <a:ext cx="122585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37775"/>
            <a:ext cx="5143500" cy="396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53425"/>
            <a:ext cx="5143500" cy="396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6" name="Google Shape;23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1295400" y="1960292"/>
            <a:ext cx="45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Restricción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1028700" y="2395004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garantizar la entrega de un Producto Mínimo Viable (MVP) robusto dentro de los plazos establecidos, se definieron ciertas limitaciones técnicas y de infraestructura operativa.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028700" y="3998416"/>
            <a:ext cx="46386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550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Estas exclusiones permiten concentrar el esfuerzo del desarrollo en la estabilidad del núcleo del sistema, posponiendo integraciones nativas complejas.</a:t>
            </a:r>
            <a:endParaRPr b="0" i="0" sz="19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4" name="Google Shape;24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00315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199180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"/>
          <p:cNvSpPr txBox="1"/>
          <p:nvPr/>
        </p:nvSpPr>
        <p:spPr>
          <a:xfrm>
            <a:off x="6791250" y="1991800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Aplicaciones Móviles Nativas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791250" y="228262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incluye apps compiladas para Android o iOS; la accesibilidad móvil se garantiza mediante la versión Web.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337198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/>
        </p:nvSpPr>
        <p:spPr>
          <a:xfrm>
            <a:off x="6791250" y="3371988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Gestión Completa de Inventario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6791250" y="3686609"/>
            <a:ext cx="440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administra el inventario de materiales directamente, solo el consumo reportado para las reparaciones asociadas.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550" y="477596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 txBox="1"/>
          <p:nvPr/>
        </p:nvSpPr>
        <p:spPr>
          <a:xfrm>
            <a:off x="6791250" y="4775975"/>
            <a:ext cx="4400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Geolocalización en Tiempo Real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6791250" y="5055090"/>
            <a:ext cx="4400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incluye el rastreo activo por GPS del personal de mantención en el campus.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376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2"/>
            <a:ext cx="3397150" cy="4191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1676402"/>
            <a:ext cx="3397300" cy="419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1676402"/>
            <a:ext cx="3397150" cy="41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6" name="Google Shape;26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571500"/>
            <a:ext cx="18002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10782300" y="6153150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226200" y="1834037"/>
            <a:ext cx="2806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Control de Versiones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000175" y="2398550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Uso estricto de Git y GitHub mediante flujo estructurado: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4899575" y="1834037"/>
            <a:ext cx="276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Colaborativo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635450" y="2398550"/>
            <a:ext cx="2921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División organizada y complementaria de responsabilidades: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8477850" y="1834037"/>
            <a:ext cx="282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Ágil (kanban + Scrum)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8270875" y="2504487"/>
            <a:ext cx="2920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5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Desarrollo bajo un enfoque iterativo incremental:</a:t>
            </a:r>
            <a:endParaRPr b="0" i="0" sz="20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8550" y="1876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 txBox="1"/>
          <p:nvPr/>
        </p:nvSpPr>
        <p:spPr>
          <a:xfrm>
            <a:off x="1247900" y="349523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Rama main (producción) y dev (pruebas).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304925" y="4195762"/>
            <a:ext cx="261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Commits descriptivos (feat, fix, refactor).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266875" y="4828862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Pull requests con revisiones de código cruzadas.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1" name="Google Shape;28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825" y="18769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"/>
          <p:cNvSpPr txBox="1"/>
          <p:nvPr/>
        </p:nvSpPr>
        <p:spPr>
          <a:xfrm>
            <a:off x="4921275" y="3495237"/>
            <a:ext cx="263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Separación modular de vistas, lógicas y datos.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940200" y="4195762"/>
            <a:ext cx="261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Comunicación asíncrona permanente vía Discord.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4883100" y="4896287"/>
            <a:ext cx="2673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Reuniones de sincronización presenciales.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49250" y="18769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"/>
          <p:cNvSpPr txBox="1"/>
          <p:nvPr/>
        </p:nvSpPr>
        <p:spPr>
          <a:xfrm>
            <a:off x="8537650" y="3309500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Ciclos cortos de entrega de valor funcional.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8537525" y="40100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Pruebas continuas de aceptación en fases.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8537575" y="4643125"/>
            <a:ext cx="265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Priorización en base a un backlog del MVP.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250" y="35142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75" y="48479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35525" y="351428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5400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35450" y="49153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70950" y="33285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70825" y="4029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70875" y="46621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g3edd214199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1810"/>
            <a:ext cx="12192000" cy="5414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75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5" y="3098800"/>
            <a:ext cx="3203625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3098800"/>
            <a:ext cx="3086100" cy="259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3098800"/>
            <a:ext cx="3203700" cy="25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Cronograma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5" name="Google Shape;31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9" name="Google Shape;31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 txBox="1"/>
          <p:nvPr/>
        </p:nvSpPr>
        <p:spPr>
          <a:xfrm>
            <a:off x="9573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947813" y="2778982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</a:t>
            </a:r>
            <a:r>
              <a:rPr lang="en-US" sz="14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7 - 9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455778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455778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</a:t>
            </a:r>
            <a:r>
              <a:rPr lang="en-US" sz="14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10 - 12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158238" y="2517044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8158238" y="2783744"/>
            <a:ext cx="3086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 13 - 15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109650" y="3273100"/>
            <a:ext cx="292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Línea base del sistema: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109650" y="3647638"/>
            <a:ext cx="2972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Configuración inicial del framework.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Módulo de acceso y seguridad (Auth).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Generación de tickets base y registro inicial.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4710100" y="3273088"/>
            <a:ext cx="258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Núcleo operativo: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4714725" y="3647650"/>
            <a:ext cx="29244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Flujo de asignación de mantenedores.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Lógica de cambio de estados operativos.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Creación de vistas de tickets e incidencias.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8310550" y="3273100"/>
            <a:ext cx="308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y Reportes: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271000" y="3647650"/>
            <a:ext cx="30861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Dashboards analíticos avanzados por rol.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Registro histórico de cambios del sistema.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7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Pruebas generales y despliegue del software.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1300238" y="2059844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27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5318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53638" y="1831244"/>
            <a:ext cx="4953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1062037" y="0"/>
            <a:ext cx="1076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Software - Patr</a:t>
            </a:r>
            <a:r>
              <a:rPr lang="en-US" sz="24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ón MVT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4" name="Google Shape;3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2112" y="571500"/>
            <a:ext cx="214788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14450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9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8" name="Google Shape;34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9" title="Diagrama mvc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000" y="369301"/>
            <a:ext cx="11135990" cy="65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2" name="Google Shape;36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6987" y="571500"/>
            <a:ext cx="12430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 txBox="1"/>
          <p:nvPr/>
        </p:nvSpPr>
        <p:spPr>
          <a:xfrm>
            <a:off x="1200150" y="3195637"/>
            <a:ext cx="2790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Ticket (Incidencias)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962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48387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5815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84582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Tablas Operativas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201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321468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 txBox="1"/>
          <p:nvPr/>
        </p:nvSpPr>
        <p:spPr>
          <a:xfrm>
            <a:off x="9620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9620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titulo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9620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descripcion [TEXT]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9620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fecha_creacion [DATE]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9620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9620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prioridad_id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0" name="Google Shape;38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815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 txBox="1"/>
          <p:nvPr/>
        </p:nvSpPr>
        <p:spPr>
          <a:xfrm>
            <a:off x="45815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5815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auth0_id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5815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nombre_completo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45815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45815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45815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sede_id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7" name="Google Shape;38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010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"/>
          <p:cNvSpPr/>
          <p:nvPr/>
        </p:nvSpPr>
        <p:spPr>
          <a:xfrm>
            <a:off x="8201025" y="3576637"/>
            <a:ext cx="3028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201025" y="3576637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Registro_Mantencion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Asigna mantenedores a tickets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8201025" y="4033837"/>
            <a:ext cx="2362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Validacion_Guardia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Controla el filtro del guardia antes de proceder.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0" title="Relational_1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3edd214199d_1_1" title="Relational_1.png"/>
          <p:cNvPicPr preferRelativeResize="0"/>
          <p:nvPr/>
        </p:nvPicPr>
        <p:blipFill rotWithShape="1">
          <a:blip r:embed="rId3">
            <a:alphaModFix/>
          </a:blip>
          <a:srcRect b="45843" l="0" r="54537" t="11389"/>
          <a:stretch/>
        </p:blipFill>
        <p:spPr>
          <a:xfrm>
            <a:off x="1559350" y="-34450"/>
            <a:ext cx="9073300" cy="69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f26f25a4d7_1_2" title="Relational_1.png"/>
          <p:cNvPicPr preferRelativeResize="0"/>
          <p:nvPr/>
        </p:nvPicPr>
        <p:blipFill rotWithShape="1">
          <a:blip r:embed="rId3">
            <a:alphaModFix/>
          </a:blip>
          <a:srcRect b="0" l="0" r="52598" t="54396"/>
          <a:stretch/>
        </p:blipFill>
        <p:spPr>
          <a:xfrm>
            <a:off x="1704050" y="0"/>
            <a:ext cx="8783898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575" y="1706475"/>
            <a:ext cx="5319425" cy="205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200" y="4018288"/>
            <a:ext cx="5319425" cy="18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75" y="1706475"/>
            <a:ext cx="5236400" cy="20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6" name="Google Shape;4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1287" y="571500"/>
            <a:ext cx="11287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10763250" y="61531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0" name="Google Shape;4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8725" y="181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742975" y="2627025"/>
            <a:ext cx="178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Interfaz de Usuario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174925" y="3188150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 txBox="1"/>
          <p:nvPr/>
        </p:nvSpPr>
        <p:spPr>
          <a:xfrm>
            <a:off x="2592838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moderna en HTML5, CSS3, JavaScript puro e integración nativa de plantillas mediante Django Templates.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0001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6" name="Google Shape;426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7723" y="4288737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1"/>
          <p:cNvSpPr txBox="1"/>
          <p:nvPr/>
        </p:nvSpPr>
        <p:spPr>
          <a:xfrm>
            <a:off x="174923" y="5096000"/>
            <a:ext cx="28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y Datos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174937" y="5389962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DB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2623750" y="4449638"/>
            <a:ext cx="3262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Desarrollado en Python con el framework web Django, </a:t>
            </a:r>
            <a:r>
              <a:rPr lang="en-U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de datos</a:t>
            </a: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SQLite.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635400" y="3764700"/>
            <a:ext cx="29211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1" name="Google Shape;43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72397" y="1920100"/>
            <a:ext cx="765116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 txBox="1"/>
          <p:nvPr/>
        </p:nvSpPr>
        <p:spPr>
          <a:xfrm>
            <a:off x="6190500" y="2814163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Entregas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5661950" y="3451537"/>
            <a:ext cx="28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8035125" y="2043300"/>
            <a:ext cx="3262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total del código fuente mediante Git, alojado en repositorios protegidos de GitHub con políticas de integración.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270825" y="3764700"/>
            <a:ext cx="2920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6" name="Google Shape;436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18328" y="2120125"/>
            <a:ext cx="27325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10177" y="1919775"/>
            <a:ext cx="463846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58040" y="4393516"/>
            <a:ext cx="524650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0575" y="4018275"/>
            <a:ext cx="5319425" cy="18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23425" y="418028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1"/>
          <p:cNvSpPr txBox="1"/>
          <p:nvPr/>
        </p:nvSpPr>
        <p:spPr>
          <a:xfrm>
            <a:off x="6122050" y="4884900"/>
            <a:ext cx="16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7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Externa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496400" y="5488863"/>
            <a:ext cx="29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>
                <a:solidFill>
                  <a:srgbClr val="FFD9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</a:t>
            </a:r>
            <a:endParaRPr b="0" i="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8027300" y="4185363"/>
            <a:ext cx="3075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Servicio externo Auth0 con protocolo OAuth2 que valida credenciales, gestiona sesiones y controla permisos por rol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1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28200" y="427818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9" name="Google Shape;4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76400"/>
            <a:ext cx="5143500" cy="42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6" name="Google Shape;45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0" y="571500"/>
            <a:ext cx="1047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0" name="Google Shape;46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50" y="19621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 txBox="1"/>
          <p:nvPr/>
        </p:nvSpPr>
        <p:spPr>
          <a:xfrm>
            <a:off x="1290625" y="1990725"/>
            <a:ext cx="44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Operativo de Tickets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266825" y="2279813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Sistema de creación de incidencias estable, listo para operación de usuarios.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1214450" y="3041363"/>
            <a:ext cx="393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Estructuración de Roles Funcionando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1214450" y="3380200"/>
            <a:ext cx="46386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correcta y pantallas personalizadas según cada tipo de perfil de usuario.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1214450" y="4395613"/>
            <a:ext cx="3908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 de Asignación y Control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1266825" y="4724875"/>
            <a:ext cx="4638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 de mantenedores con auditoría e historial automático de cambios.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6817438" y="2043900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Trazabilidad y Log de Estados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6793638" y="2332992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del ticket controlado con marcas de tiempo y auditoría de eventos.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6805538" y="3098825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en Tiempo Real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6805538" y="3437671"/>
            <a:ext cx="4400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Métricas e indicadores clave para toma de decisiones y control de eficiencia.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738950" y="4317013"/>
            <a:ext cx="35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Consolidado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791325" y="4646265"/>
            <a:ext cx="40671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6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relacional optimizada con persistencia íntegra lista para escalar.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4" name="Google Shape;47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301278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40043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2163" y="2035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263" y="30945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3675" y="4299763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1968114"/>
            <a:ext cx="51435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Obstáculos Presentados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0" name="Google Shape;4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571500"/>
            <a:ext cx="15906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3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4" name="Google Shape;4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 txBox="1"/>
          <p:nvPr/>
        </p:nvSpPr>
        <p:spPr>
          <a:xfrm>
            <a:off x="1309650" y="22062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Versiones de commit no compatibles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1042950" y="257773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“Se originaron bugs y problemas de versionado en entornos de trabajo al momento de desplegar el servidor.”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681990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del Equipo de Trabajo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 txBox="1"/>
          <p:nvPr/>
        </p:nvSpPr>
        <p:spPr>
          <a:xfrm>
            <a:off x="6553200" y="4825625"/>
            <a:ext cx="485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"Los horarios laborales y personales dificultaron la coordinación de reuniones presenciales, retrasando algunas etapas críticas."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9" name="Google Shape;49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451" y="217961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7950" y="4474324"/>
            <a:ext cx="261950" cy="2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716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3"/>
          <p:cNvSpPr txBox="1"/>
          <p:nvPr/>
        </p:nvSpPr>
        <p:spPr>
          <a:xfrm>
            <a:off x="6819900" y="222528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 Business Intelligence (BI)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6553200" y="2596787"/>
            <a:ext cx="46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"Inicialmente no teníamos claro cómo integrar inteligencia de negocios sin convertir el sistema en un simple CRUD convencional."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4" name="Google Shape;50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7700" y="2198665"/>
            <a:ext cx="261925" cy="27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3"/>
          <p:cNvSpPr txBox="1"/>
          <p:nvPr/>
        </p:nvSpPr>
        <p:spPr>
          <a:xfrm>
            <a:off x="1309650" y="4454139"/>
            <a:ext cx="459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4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Reestructuración de funcionalidades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1042950" y="4825625"/>
            <a:ext cx="487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6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o eliminación de opciones disponibles para los diferentes usuarios y roles para ajustarnos a las nuevas necesidades.</a:t>
            </a:r>
            <a:r>
              <a:rPr b="0" i="1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8" name="Google Shape;50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7712" y="4427516"/>
            <a:ext cx="261925" cy="276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7" name="Google Shape;5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2225" y="571500"/>
            <a:ext cx="12477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0" name="Google Shape;5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4"/>
          <p:cNvSpPr txBox="1"/>
          <p:nvPr/>
        </p:nvSpPr>
        <p:spPr>
          <a:xfrm>
            <a:off x="3095625" y="3086100"/>
            <a:ext cx="600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3238500" y="3800475"/>
            <a:ext cx="57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3" name="Google Shape;5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100" y="2171700"/>
            <a:ext cx="6858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8" name="Google Shape;5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5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2" name="Google Shape;5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4200" y="571500"/>
            <a:ext cx="685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0315575" y="6153150"/>
            <a:ext cx="11144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5" name="Google Shape;5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5"/>
          <p:cNvSpPr txBox="1"/>
          <p:nvPr/>
        </p:nvSpPr>
        <p:spPr>
          <a:xfrm>
            <a:off x="2980610" y="2957512"/>
            <a:ext cx="62307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3128962" y="3786187"/>
            <a:ext cx="593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"Campus Seguro</a:t>
            </a:r>
            <a:r>
              <a:rPr lang="en-US" sz="15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b="0" i="0" lang="en-US" sz="15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4724400" y="4519612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4724400" y="4719637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